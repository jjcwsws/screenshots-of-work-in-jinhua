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301" r:id="rId3"/>
    <p:sldId id="294" r:id="rId4"/>
    <p:sldId id="302" r:id="rId5"/>
    <p:sldId id="293" r:id="rId6"/>
    <p:sldId id="309" r:id="rId8"/>
    <p:sldId id="295" r:id="rId9"/>
    <p:sldId id="305" r:id="rId10"/>
    <p:sldId id="297" r:id="rId11"/>
    <p:sldId id="306" r:id="rId12"/>
    <p:sldId id="298" r:id="rId13"/>
    <p:sldId id="307" r:id="rId14"/>
    <p:sldId id="299" r:id="rId15"/>
    <p:sldId id="308" r:id="rId16"/>
    <p:sldId id="300" r:id="rId17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_1679281038" initials="W" lastIdx="0" clrIdx="0"/>
  <p:cmAuthor id="2" name="123" initials="1" lastIdx="0" clrIdx="1"/>
  <p:cmAuthor id="3" name="作者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9" d="100"/>
          <a:sy n="89" d="100"/>
        </p:scale>
        <p:origin x="56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gs" Target="tags/tag29.xml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slide" Target="slide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1.jpeg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7.png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image" Target="../media/image1.jpeg"/><Relationship Id="rId2" Type="http://schemas.openxmlformats.org/officeDocument/2006/relationships/tags" Target="../tags/tag10.x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10.png"/><Relationship Id="rId10" Type="http://schemas.openxmlformats.org/officeDocument/2006/relationships/image" Target="../media/image9.png"/><Relationship Id="rId1" Type="http://schemas.openxmlformats.org/officeDocument/2006/relationships/tags" Target="../tags/tag9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image" Target="../media/image1.jpeg"/><Relationship Id="rId2" Type="http://schemas.openxmlformats.org/officeDocument/2006/relationships/tags" Target="../tags/tag18.x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14.png"/><Relationship Id="rId15" Type="http://schemas.openxmlformats.org/officeDocument/2006/relationships/image" Target="../media/image13.png"/><Relationship Id="rId14" Type="http://schemas.openxmlformats.org/officeDocument/2006/relationships/image" Target="../media/image12.png"/><Relationship Id="rId13" Type="http://schemas.openxmlformats.org/officeDocument/2006/relationships/tags" Target="../tags/tag28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tags" Target="../tags/tag1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Line 35"/>
          <p:cNvSpPr>
            <a:spLocks noChangeShapeType="1"/>
          </p:cNvSpPr>
          <p:nvPr/>
        </p:nvSpPr>
        <p:spPr bwMode="auto">
          <a:xfrm>
            <a:off x="1" y="893379"/>
            <a:ext cx="9165020" cy="0"/>
          </a:xfrm>
          <a:prstGeom prst="line">
            <a:avLst/>
          </a:prstGeom>
          <a:noFill/>
          <a:ln w="44450" cmpd="thickThin">
            <a:solidFill>
              <a:srgbClr val="0040C0"/>
            </a:solidFill>
            <a:round/>
          </a:ln>
        </p:spPr>
        <p:txBody>
          <a:bodyPr lIns="108820" tIns="54410" rIns="108820" bIns="54410"/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73743874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6995" y="166370"/>
            <a:ext cx="1692910" cy="6273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307340" y="266700"/>
            <a:ext cx="3877310" cy="626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>
                <a:latin typeface="楷体" panose="02010609060101010101" charset="-122"/>
                <a:ea typeface="楷体" panose="02010609060101010101" charset="-122"/>
                <a:sym typeface="+mn-ea"/>
              </a:rPr>
              <a:t>产品概述</a:t>
            </a:r>
            <a:endParaRPr lang="zh-CN" altLang="en-US" sz="28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860" y="1560195"/>
            <a:ext cx="3586480" cy="439801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63245" y="2110105"/>
            <a:ext cx="5838190" cy="3297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349250" fontAlgn="auto">
              <a:lnSpc>
                <a:spcPct val="150000"/>
              </a:lnSpc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专注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3D 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相机研发生产，现有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6 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款产品，分别为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  <a:hlinkClick r:id="rId3" action="ppaction://hlinksldjump"/>
              </a:rPr>
              <a:t>CS-RT-L21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  <a:hlinkClick r:id="rId3" action="ppaction://hlinksldjump"/>
              </a:rPr>
              <a:t>型随机光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、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  <a:hlinkClick r:id="rId3" action="ppaction://hlinksldjump"/>
              </a:rPr>
              <a:t>CS-ST-S21B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  <a:hlinkClick r:id="rId3" action="ppaction://hlinksldjump"/>
              </a:rPr>
              <a:t>结构光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、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  <a:hlinkClick r:id="rId3" action="ppaction://hlinksldjump"/>
              </a:rPr>
              <a:t>CS-ST-S21D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  <a:hlinkClick r:id="rId3" action="ppaction://hlinksldjump"/>
              </a:rPr>
              <a:t>结构光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、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  <a:hlinkClick r:id="rId3" action="ppaction://hlinksldjump"/>
              </a:rPr>
              <a:t>CS-ST-L21D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  <a:hlinkClick r:id="rId3" action="ppaction://hlinksldjump"/>
              </a:rPr>
              <a:t>结构光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、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  <a:hlinkClick r:id="rId3" action="ppaction://hlinksldjump"/>
              </a:rPr>
              <a:t>CS-ST-L21B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  <a:hlinkClick r:id="rId3" action="ppaction://hlinksldjump"/>
              </a:rPr>
              <a:t>结构光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、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  <a:hlinkClick r:id="rId3" action="ppaction://hlinksldjump"/>
              </a:rPr>
              <a:t>CS-DST-S21-Pro-S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  <a:hlinkClick r:id="rId3" action="ppaction://hlinksldjump"/>
              </a:rPr>
              <a:t>嵌入式结构光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、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  <a:hlinkClick r:id="rId3" action="ppaction://hlinksldjump"/>
              </a:rPr>
              <a:t>CS-DT-031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  <a:hlinkClick r:id="rId3" action="ppaction://hlinksldjump"/>
              </a:rPr>
              <a:t>涂胶检测相机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、</a:t>
            </a:r>
            <a:endParaRPr lang="zh-CN" altLang="en-US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349250" fontAlgn="auto">
              <a:lnSpc>
                <a:spcPct val="150000"/>
              </a:lnSpc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面向工业检测的相机，实现高精度，助力高效质检；专业团队与严格质控体系，确保产品领先、可靠，覆盖多领域，为各业务提供定制视觉方案，推动公司数字化、智能化发展。</a:t>
            </a:r>
            <a:endParaRPr lang="zh-CN" altLang="en-US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Line 35"/>
          <p:cNvSpPr>
            <a:spLocks noChangeShapeType="1"/>
          </p:cNvSpPr>
          <p:nvPr/>
        </p:nvSpPr>
        <p:spPr bwMode="auto">
          <a:xfrm>
            <a:off x="1" y="893379"/>
            <a:ext cx="9165020" cy="0"/>
          </a:xfrm>
          <a:prstGeom prst="line">
            <a:avLst/>
          </a:prstGeom>
          <a:noFill/>
          <a:ln w="44450" cmpd="thickThin">
            <a:solidFill>
              <a:srgbClr val="0040C0"/>
            </a:solidFill>
            <a:round/>
          </a:ln>
        </p:spPr>
        <p:txBody>
          <a:bodyPr lIns="108820" tIns="54410" rIns="108820" bIns="54410"/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73743874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6995" y="166370"/>
            <a:ext cx="1692910" cy="6273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307340" y="266700"/>
            <a:ext cx="3877310" cy="626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CS-RT-L21</a:t>
            </a:r>
            <a:r>
              <a:rPr lang="zh-CN" altLang="en-US" sz="2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型随机光</a:t>
            </a:r>
            <a:endParaRPr lang="zh-CN" altLang="en-US" sz="28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4568825" y="1035050"/>
          <a:ext cx="7021195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2725"/>
                <a:gridCol w="2777490"/>
                <a:gridCol w="2760980"/>
              </a:tblGrid>
              <a:tr h="36576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产品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/>
                </a:tc>
                <a:tc gridSpan="2"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</a:rPr>
                        <a:t>CS-RT-L21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型随机光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/>
                </a:tc>
                <a:tc hMerge="1">
                  <a:tcPr/>
                </a:tc>
              </a:tr>
              <a:tr h="36576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版本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旧版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新版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 indent="0" algn="ctr" fontAlgn="auto">
                        <a:lnSpc>
                          <a:spcPct val="16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相机与镜头型号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MV-CA020-10UM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（海康）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+MC0825C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、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8mm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（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kokar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）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</a:rPr>
                        <a:t>M3ST231M-H-O2C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（度申）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</a:rPr>
                        <a:t>+HM06MP5C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、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</a:rPr>
                        <a:t>6mm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（中联科创）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主控制板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英特尔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/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英伟达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英伟达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光源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白光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/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红外（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850nm 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红外需补光灯）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红外（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</a:rPr>
                        <a:t>850nm 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红外需补光灯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）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工作距离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1900mm-4000mm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</a:rPr>
                        <a:t>1600mm-4000mm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分辨率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1624*1240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</a:rPr>
                        <a:t>2048*1200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供电电压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</a:rPr>
                        <a:t>/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典型功耗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DC 36V/100W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（白）、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60W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（红）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</a:rPr>
                        <a:t>DC 36V/ 40W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（红）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工作温度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/>
                </a:tc>
                <a:tc gridSpan="2"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0-45℃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  <a:tc hMerge="1">
                  <a:tcPr anchor="ctr" anchorCtr="0"/>
                </a:tc>
              </a:tr>
              <a:tr h="327025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采集时间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/>
                </a:tc>
                <a:tc gridSpan="2"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6s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  <a:tc hMerge="1">
                  <a:tcPr/>
                </a:tc>
              </a:tr>
              <a:tr h="36576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</a:rPr>
                        <a:t>Z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向重复精度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/>
                </a:tc>
                <a:tc gridSpan="2"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5mm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  <a:tc hMerge="1">
                  <a:tcPr/>
                </a:tc>
              </a:tr>
              <a:tr h="36576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通讯接口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/>
                </a:tc>
                <a:tc gridSpan="2"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千兆以太网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  <a:tc hMerge="1">
                  <a:tcPr anchor="ctr" anchorCtr="0"/>
                </a:tc>
              </a:tr>
              <a:tr h="36576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尺寸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</a:rPr>
                        <a:t>/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重量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/>
                </a:tc>
                <a:tc gridSpan="2"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尺寸为 410x225x95mm/重 6627g±10g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  <a:tc hMerge="1">
                  <a:tcPr anchor="ctr" anchorCtr="0"/>
                </a:tc>
              </a:tr>
              <a:tr h="36576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配套线缆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/>
                </a:tc>
                <a:tc gridSpan="2">
                  <a:txBody>
                    <a:bodyPr/>
                    <a:p>
                      <a:pPr indent="0" algn="l" fontAlgn="auto">
                        <a:lnSpc>
                          <a:spcPct val="150000"/>
                        </a:lnSpc>
                        <a:buClrTx/>
                        <a:buSzTx/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2k304 to 2c电源(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电源线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)*1 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，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M12-X-8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芯头针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 to RJ45(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网线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)*1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  <a:tc hMerge="1">
                  <a:tcPr anchor="ctr" anchorCtr="0"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307340" y="1154430"/>
            <a:ext cx="4199890" cy="16459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349250" algn="l" fontAlgn="auto">
              <a:lnSpc>
                <a:spcPct val="150000"/>
              </a:lnSpc>
              <a:buClrTx/>
              <a:buSzTx/>
              <a:buNone/>
            </a:pPr>
            <a:r>
              <a:rPr lang="en-US" altLang="zh-CN" baseline="30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该相机结合随机光技术与相机系统，用于捕获和处理三维空间信息，特别适用于拆纸箱和软包场景，可识别追踪物品，实现自动化分拣、定位及引导机器人操作。</a:t>
            </a:r>
            <a:endParaRPr lang="en-US" altLang="zh-CN" baseline="30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349250" algn="l" fontAlgn="auto">
              <a:lnSpc>
                <a:spcPct val="150000"/>
              </a:lnSpc>
              <a:buClrTx/>
              <a:buSzTx/>
              <a:buNone/>
            </a:pPr>
            <a:r>
              <a:rPr lang="en-US" altLang="zh-CN" baseline="30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系统组成包括一个 3D 相机（有不同订货型号）、一个电源适配器，电源线和千兆网线长度可定制，外部光源可按需选配。</a:t>
            </a:r>
            <a:endParaRPr lang="en-US" altLang="zh-CN" baseline="30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457200" algn="l" fontAlgn="auto">
              <a:lnSpc>
                <a:spcPct val="150000"/>
              </a:lnSpc>
              <a:buClrTx/>
              <a:buSzTx/>
              <a:buNone/>
            </a:pPr>
            <a:endParaRPr lang="en-US" altLang="zh-CN" baseline="30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457200" algn="l" fontAlgn="auto">
              <a:lnSpc>
                <a:spcPct val="150000"/>
              </a:lnSpc>
              <a:buClrTx/>
              <a:buSzTx/>
              <a:buNone/>
            </a:pPr>
            <a:endParaRPr lang="en-US" altLang="zh-CN" baseline="30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457200" algn="l" fontAlgn="auto">
              <a:lnSpc>
                <a:spcPct val="150000"/>
              </a:lnSpc>
              <a:buClrTx/>
              <a:buSzTx/>
              <a:buNone/>
            </a:pPr>
            <a:endParaRPr lang="en-US" altLang="zh-CN" baseline="30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457200" algn="l" fontAlgn="auto">
              <a:lnSpc>
                <a:spcPct val="150000"/>
              </a:lnSpc>
              <a:buClrTx/>
              <a:buSzTx/>
              <a:buNone/>
            </a:pPr>
            <a:endParaRPr lang="en-US" altLang="zh-CN" baseline="30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457200" algn="l" fontAlgn="auto">
              <a:lnSpc>
                <a:spcPct val="150000"/>
              </a:lnSpc>
              <a:buClrTx/>
              <a:buSzTx/>
              <a:buNone/>
            </a:pPr>
            <a:endParaRPr lang="en-US" altLang="zh-CN" baseline="30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457200" algn="l" fontAlgn="auto">
              <a:lnSpc>
                <a:spcPct val="150000"/>
              </a:lnSpc>
              <a:buClrTx/>
              <a:buSzTx/>
              <a:buNone/>
            </a:pP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endParaRPr lang="zh-CN" altLang="en-US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07340" y="4286885"/>
            <a:ext cx="3975100" cy="2033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None/>
            </a:pPr>
            <a:r>
              <a:rPr lang="en-US" altLang="zh-CN" b="1" baseline="30000">
                <a:latin typeface="楷体" panose="02010609060101010101" charset="-122"/>
                <a:ea typeface="楷体" panose="02010609060101010101" charset="-122"/>
                <a:sym typeface="+mn-ea"/>
              </a:rPr>
              <a:t>产品特点：</a:t>
            </a:r>
            <a:endParaRPr lang="en-US" altLang="zh-CN" b="1" baseline="3000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marL="285750" indent="-28575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l"/>
            </a:pPr>
            <a:r>
              <a:rPr lang="en-US" altLang="zh-CN" baseline="30000">
                <a:latin typeface="楷体" panose="02010609060101010101" charset="-122"/>
                <a:ea typeface="楷体" panose="02010609060101010101" charset="-122"/>
                <a:sym typeface="+mn-ea"/>
              </a:rPr>
              <a:t>双目加随机光方案成像快；</a:t>
            </a:r>
            <a:endParaRPr lang="en-US" altLang="zh-CN" baseline="3000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marL="285750" indent="-28575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l"/>
            </a:pPr>
            <a:r>
              <a:rPr lang="en-US" altLang="zh-CN" baseline="30000">
                <a:latin typeface="楷体" panose="02010609060101010101" charset="-122"/>
                <a:ea typeface="楷体" panose="02010609060101010101" charset="-122"/>
                <a:sym typeface="+mn-ea"/>
              </a:rPr>
              <a:t>适用于大视野，大景深的工作场景；</a:t>
            </a:r>
            <a:endParaRPr lang="en-US" altLang="zh-CN" baseline="3000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marL="285750" indent="-28575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l"/>
            </a:pPr>
            <a:r>
              <a:rPr lang="en-US" altLang="zh-CN" baseline="30000">
                <a:latin typeface="楷体" panose="02010609060101010101" charset="-122"/>
                <a:ea typeface="楷体" panose="02010609060101010101" charset="-122"/>
                <a:sym typeface="+mn-ea"/>
              </a:rPr>
              <a:t>选用高级别抗冲击、防震硬件，稳定可靠；</a:t>
            </a:r>
            <a:endParaRPr lang="en-US" altLang="zh-CN" baseline="3000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marL="285750" indent="-28575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l"/>
            </a:pPr>
            <a:r>
              <a:rPr lang="en-US" altLang="zh-CN" baseline="30000">
                <a:latin typeface="楷体" panose="02010609060101010101" charset="-122"/>
                <a:ea typeface="楷体" panose="02010609060101010101" charset="-122"/>
                <a:sym typeface="+mn-ea"/>
              </a:rPr>
              <a:t>快速工件识别、快速定姿定位</a:t>
            </a:r>
            <a:r>
              <a:rPr lang="zh-CN" altLang="en-US" baseline="30000">
                <a:latin typeface="楷体" panose="02010609060101010101" charset="-122"/>
                <a:ea typeface="楷体" panose="02010609060101010101" charset="-122"/>
                <a:sym typeface="+mn-ea"/>
              </a:rPr>
              <a:t>；</a:t>
            </a:r>
            <a:endParaRPr lang="en-US" altLang="zh-CN" baseline="3000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marL="285750" indent="-28575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l"/>
            </a:pPr>
            <a:r>
              <a:rPr lang="en-US" altLang="zh-CN" baseline="30000">
                <a:latin typeface="楷体" panose="02010609060101010101" charset="-122"/>
                <a:ea typeface="楷体" panose="02010609060101010101" charset="-122"/>
                <a:sym typeface="+mn-ea"/>
              </a:rPr>
              <a:t>固定位置安装，抗干扰能力强</a:t>
            </a:r>
            <a:r>
              <a:rPr lang="zh-CN" altLang="en-US" baseline="30000">
                <a:latin typeface="楷体" panose="02010609060101010101" charset="-122"/>
                <a:ea typeface="楷体" panose="02010609060101010101" charset="-122"/>
                <a:sym typeface="+mn-ea"/>
              </a:rPr>
              <a:t>；</a:t>
            </a:r>
            <a:endParaRPr lang="en-US" altLang="zh-CN" baseline="3000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marL="285750" indent="-28575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l"/>
            </a:pPr>
            <a:r>
              <a:rPr lang="en-US" altLang="zh-CN" baseline="30000">
                <a:latin typeface="楷体" panose="02010609060101010101" charset="-122"/>
                <a:ea typeface="楷体" panose="02010609060101010101" charset="-122"/>
                <a:sym typeface="+mn-ea"/>
              </a:rPr>
              <a:t>适用一定程度黑色、反光物体的识别定位</a:t>
            </a:r>
            <a:r>
              <a:rPr lang="zh-CN" altLang="en-US" baseline="30000">
                <a:latin typeface="楷体" panose="02010609060101010101" charset="-122"/>
                <a:ea typeface="楷体" panose="02010609060101010101" charset="-122"/>
                <a:sym typeface="+mn-ea"/>
              </a:rPr>
              <a:t>。</a:t>
            </a:r>
            <a:endParaRPr lang="en-US" altLang="zh-CN" baseline="30000">
              <a:latin typeface="楷体" panose="02010609060101010101" charset="-122"/>
              <a:ea typeface="楷体" panose="02010609060101010101" charset="-122"/>
            </a:endParaRPr>
          </a:p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l="14214" t="7845" r="15022" b="19473"/>
          <a:stretch>
            <a:fillRect/>
          </a:stretch>
        </p:blipFill>
        <p:spPr>
          <a:xfrm>
            <a:off x="1343660" y="2684780"/>
            <a:ext cx="2500630" cy="14884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2440" y="37465"/>
            <a:ext cx="4807585" cy="984250"/>
          </a:xfrm>
          <a:prstGeom prst="rect">
            <a:avLst/>
          </a:prstGeom>
        </p:spPr>
      </p:pic>
      <p:cxnSp>
        <p:nvCxnSpPr>
          <p:cNvPr id="7" name="直接箭头连接符 6"/>
          <p:cNvCxnSpPr/>
          <p:nvPr/>
        </p:nvCxnSpPr>
        <p:spPr>
          <a:xfrm>
            <a:off x="6938645" y="981075"/>
            <a:ext cx="2044700" cy="620395"/>
          </a:xfrm>
          <a:prstGeom prst="straightConnector1">
            <a:avLst/>
          </a:prstGeom>
          <a:ln w="31750" cap="rnd">
            <a:solidFill>
              <a:schemeClr val="accent6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1"/>
          <p:cNvSpPr/>
          <p:nvPr>
            <p:custDataLst>
              <p:tags r:id="rId1"/>
            </p:custDataLst>
          </p:nvPr>
        </p:nvSpPr>
        <p:spPr>
          <a:xfrm>
            <a:off x="6221674" y="1278724"/>
            <a:ext cx="5272461" cy="5057941"/>
          </a:xfrm>
          <a:prstGeom prst="roundRect">
            <a:avLst>
              <a:gd name="adj" fmla="val 5029"/>
            </a:avLst>
          </a:prstGeom>
          <a:gradFill>
            <a:gsLst>
              <a:gs pos="0">
                <a:srgbClr val="FFFFFF">
                  <a:alpha val="10000"/>
                </a:srgbClr>
              </a:gs>
              <a:gs pos="100000">
                <a:schemeClr val="accent1">
                  <a:alpha val="15000"/>
                </a:schemeClr>
              </a:gs>
            </a:gsLst>
            <a:lin ang="5400000" scaled="1"/>
          </a:gradFill>
          <a:ln w="9525">
            <a:solidFill>
              <a:schemeClr val="accent1">
                <a:lumMod val="60000"/>
                <a:lumOff val="40000"/>
                <a:alpha val="60000"/>
              </a:schemeClr>
            </a:solidFill>
          </a:ln>
          <a:effectLst>
            <a:outerShdw blurRad="254000" dist="63500" dir="5400000" sx="80000" sy="80000" algn="t" rotWithShape="0">
              <a:schemeClr val="bg1">
                <a:lumMod val="50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rgbClr val="FFFFFF"/>
                </a:solidFill>
                <a:cs typeface="+mn-ea"/>
                <a:sym typeface="+mn-lt"/>
              </a:rPr>
              <a:t> </a:t>
            </a:r>
            <a:endParaRPr lang="en-US" altLang="zh-CN" b="1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26" name="1"/>
          <p:cNvSpPr/>
          <p:nvPr>
            <p:custDataLst>
              <p:tags r:id="rId2"/>
            </p:custDataLst>
          </p:nvPr>
        </p:nvSpPr>
        <p:spPr>
          <a:xfrm>
            <a:off x="338455" y="1278724"/>
            <a:ext cx="5272461" cy="5057941"/>
          </a:xfrm>
          <a:prstGeom prst="roundRect">
            <a:avLst>
              <a:gd name="adj" fmla="val 5029"/>
            </a:avLst>
          </a:prstGeom>
          <a:gradFill>
            <a:gsLst>
              <a:gs pos="0">
                <a:srgbClr val="FFFFFF">
                  <a:alpha val="10000"/>
                </a:srgbClr>
              </a:gs>
              <a:gs pos="100000">
                <a:schemeClr val="accent1">
                  <a:alpha val="15000"/>
                </a:schemeClr>
              </a:gs>
            </a:gsLst>
            <a:lin ang="5400000" scaled="1"/>
          </a:gradFill>
          <a:ln w="9525">
            <a:solidFill>
              <a:schemeClr val="accent1">
                <a:lumMod val="60000"/>
                <a:lumOff val="40000"/>
                <a:alpha val="60000"/>
              </a:schemeClr>
            </a:solidFill>
          </a:ln>
          <a:effectLst>
            <a:outerShdw blurRad="254000" dist="63500" dir="5400000" sx="80000" sy="80000" algn="t" rotWithShape="0">
              <a:schemeClr val="bg1">
                <a:lumMod val="50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rgbClr val="FFFFFF"/>
                </a:solidFill>
                <a:cs typeface="+mn-ea"/>
                <a:sym typeface="+mn-lt"/>
              </a:rPr>
              <a:t> </a:t>
            </a:r>
            <a:endParaRPr lang="en-US" altLang="zh-CN" b="1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20" name="Line 35"/>
          <p:cNvSpPr>
            <a:spLocks noChangeShapeType="1"/>
          </p:cNvSpPr>
          <p:nvPr/>
        </p:nvSpPr>
        <p:spPr bwMode="auto">
          <a:xfrm>
            <a:off x="1" y="893379"/>
            <a:ext cx="9165020" cy="0"/>
          </a:xfrm>
          <a:prstGeom prst="line">
            <a:avLst/>
          </a:prstGeom>
          <a:noFill/>
          <a:ln w="44450" cmpd="thickThin">
            <a:solidFill>
              <a:srgbClr val="0040C0"/>
            </a:solidFill>
            <a:round/>
          </a:ln>
        </p:spPr>
        <p:txBody>
          <a:bodyPr lIns="108820" tIns="54410" rIns="108820" bIns="54410"/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73743874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6995" y="166370"/>
            <a:ext cx="1692910" cy="6273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307340" y="266700"/>
            <a:ext cx="6198235" cy="527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CS-RT-L21-随机光-视野</a:t>
            </a:r>
            <a:r>
              <a:rPr lang="zh-CN" altLang="en-US" sz="2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图</a:t>
            </a:r>
            <a:endParaRPr lang="zh-CN" altLang="en-US" sz="28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rcRect l="3241" r="10177" b="2597"/>
          <a:stretch>
            <a:fillRect/>
          </a:stretch>
        </p:blipFill>
        <p:spPr>
          <a:xfrm>
            <a:off x="640080" y="2495550"/>
            <a:ext cx="4758055" cy="35477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rcRect l="5822" t="3576" r="2674" b="3482"/>
          <a:stretch>
            <a:fillRect/>
          </a:stretch>
        </p:blipFill>
        <p:spPr>
          <a:xfrm>
            <a:off x="6377305" y="2507615"/>
            <a:ext cx="4961255" cy="3535680"/>
          </a:xfrm>
          <a:prstGeom prst="rect">
            <a:avLst/>
          </a:prstGeom>
        </p:spPr>
      </p:pic>
      <p:sp>
        <p:nvSpPr>
          <p:cNvPr id="44" name="标题"/>
          <p:cNvSpPr txBox="1"/>
          <p:nvPr>
            <p:custDataLst>
              <p:tags r:id="rId6"/>
            </p:custDataLst>
          </p:nvPr>
        </p:nvSpPr>
        <p:spPr>
          <a:xfrm>
            <a:off x="640226" y="1526701"/>
            <a:ext cx="4668919" cy="8095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altLang="zh-CN" sz="2800" b="1" spc="300" dirty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8mm+</a:t>
            </a:r>
            <a:r>
              <a:rPr lang="zh-CN" altLang="en-US" sz="2800" b="1" spc="300" dirty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海康相机</a:t>
            </a:r>
            <a:endParaRPr lang="zh-CN" altLang="en-US" sz="2800" b="1" spc="300" dirty="0">
              <a:solidFill>
                <a:schemeClr val="accent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85" name="形状4"/>
          <p:cNvSpPr/>
          <p:nvPr>
            <p:custDataLst>
              <p:tags r:id="rId7"/>
            </p:custDataLst>
          </p:nvPr>
        </p:nvSpPr>
        <p:spPr>
          <a:xfrm>
            <a:off x="640503" y="2279112"/>
            <a:ext cx="4481953" cy="78723"/>
          </a:xfrm>
          <a:prstGeom prst="roundRect">
            <a:avLst>
              <a:gd name="adj" fmla="val 50000"/>
            </a:avLst>
          </a:prstGeom>
          <a:solidFill>
            <a:schemeClr val="accent1">
              <a:alpha val="2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 lang="en-US" altLang="zh-CN" sz="3200" b="1" dirty="0">
              <a:effectLst>
                <a:reflection blurRad="6350" stA="26000" endPos="60000" dist="30480" dir="5400000" sy="-100000" algn="bl" rotWithShape="0"/>
              </a:effectLst>
              <a:cs typeface="+mn-ea"/>
              <a:sym typeface="+mn-lt"/>
            </a:endParaRPr>
          </a:p>
        </p:txBody>
      </p:sp>
      <p:sp>
        <p:nvSpPr>
          <p:cNvPr id="86" name="形状5"/>
          <p:cNvSpPr/>
          <p:nvPr>
            <p:custDataLst>
              <p:tags r:id="rId8"/>
            </p:custDataLst>
          </p:nvPr>
        </p:nvSpPr>
        <p:spPr>
          <a:xfrm>
            <a:off x="640882" y="2287367"/>
            <a:ext cx="1199211" cy="7872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60000"/>
                </a:schemeClr>
              </a:gs>
              <a:gs pos="100000">
                <a:schemeClr val="accent1"/>
              </a:gs>
            </a:gsLst>
            <a:lin ang="10800000" scaled="1"/>
            <a:tileRect/>
          </a:gra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 lang="en-US" altLang="zh-CN" sz="3200" b="1" dirty="0">
              <a:effectLst>
                <a:reflection blurRad="6350" stA="26000" endPos="60000" dist="30480" dir="5400000" sy="-100000" algn="bl" rotWithShape="0"/>
              </a:effectLst>
              <a:cs typeface="+mn-ea"/>
              <a:sym typeface="+mn-lt"/>
            </a:endParaRPr>
          </a:p>
        </p:txBody>
      </p:sp>
      <p:sp>
        <p:nvSpPr>
          <p:cNvPr id="18" name="标题"/>
          <p:cNvSpPr txBox="1"/>
          <p:nvPr>
            <p:custDataLst>
              <p:tags r:id="rId9"/>
            </p:custDataLst>
          </p:nvPr>
        </p:nvSpPr>
        <p:spPr>
          <a:xfrm>
            <a:off x="6523445" y="1526701"/>
            <a:ext cx="4668919" cy="8095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altLang="zh-CN" sz="2800" b="1" spc="300" dirty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6mm+</a:t>
            </a:r>
            <a:r>
              <a:rPr lang="zh-CN" altLang="en-US" sz="2800" b="1" spc="300" dirty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度申相机</a:t>
            </a:r>
            <a:endParaRPr lang="zh-CN" altLang="en-US" sz="2800" b="1" spc="300" dirty="0">
              <a:solidFill>
                <a:schemeClr val="accent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8" name="形状2"/>
          <p:cNvSpPr/>
          <p:nvPr>
            <p:custDataLst>
              <p:tags r:id="rId10"/>
            </p:custDataLst>
          </p:nvPr>
        </p:nvSpPr>
        <p:spPr>
          <a:xfrm>
            <a:off x="6523086" y="2279112"/>
            <a:ext cx="4481953" cy="78723"/>
          </a:xfrm>
          <a:prstGeom prst="roundRect">
            <a:avLst>
              <a:gd name="adj" fmla="val 50000"/>
            </a:avLst>
          </a:prstGeom>
          <a:solidFill>
            <a:schemeClr val="accent1">
              <a:alpha val="2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 lang="en-US" altLang="zh-CN" sz="3200" b="1" dirty="0">
              <a:effectLst>
                <a:reflection blurRad="6350" stA="26000" endPos="60000" dist="30480" dir="5400000" sy="-100000" algn="bl" rotWithShape="0"/>
              </a:effectLst>
              <a:cs typeface="+mn-ea"/>
              <a:sym typeface="+mn-lt"/>
            </a:endParaRPr>
          </a:p>
        </p:txBody>
      </p:sp>
      <p:sp>
        <p:nvSpPr>
          <p:cNvPr id="21" name="形状"/>
          <p:cNvSpPr/>
          <p:nvPr>
            <p:custDataLst>
              <p:tags r:id="rId11"/>
            </p:custDataLst>
          </p:nvPr>
        </p:nvSpPr>
        <p:spPr>
          <a:xfrm>
            <a:off x="6524101" y="2279112"/>
            <a:ext cx="1199211" cy="7872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60000"/>
                </a:schemeClr>
              </a:gs>
              <a:gs pos="100000">
                <a:schemeClr val="accent1"/>
              </a:gs>
            </a:gsLst>
            <a:lin ang="10800000" scaled="1"/>
            <a:tileRect/>
          </a:gra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 lang="en-US" altLang="zh-CN" sz="3200" b="1" dirty="0">
              <a:effectLst>
                <a:reflection blurRad="6350" stA="26000" endPos="60000" dist="30480" dir="5400000" sy="-100000" algn="bl" rotWithShape="0"/>
              </a:effectLst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61205" y="85090"/>
            <a:ext cx="5685790" cy="1218565"/>
          </a:xfrm>
          <a:prstGeom prst="rect">
            <a:avLst/>
          </a:prstGeom>
        </p:spPr>
      </p:pic>
      <p:cxnSp>
        <p:nvCxnSpPr>
          <p:cNvPr id="5" name="直接箭头连接符 4"/>
          <p:cNvCxnSpPr/>
          <p:nvPr/>
        </p:nvCxnSpPr>
        <p:spPr>
          <a:xfrm flipH="1" flipV="1">
            <a:off x="3081020" y="787400"/>
            <a:ext cx="2219325" cy="13589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Line 35"/>
          <p:cNvSpPr>
            <a:spLocks noChangeShapeType="1"/>
          </p:cNvSpPr>
          <p:nvPr/>
        </p:nvSpPr>
        <p:spPr bwMode="auto">
          <a:xfrm>
            <a:off x="1" y="893379"/>
            <a:ext cx="9165020" cy="0"/>
          </a:xfrm>
          <a:prstGeom prst="line">
            <a:avLst/>
          </a:prstGeom>
          <a:noFill/>
          <a:ln w="44450" cmpd="thickThin">
            <a:solidFill>
              <a:srgbClr val="0040C0"/>
            </a:solidFill>
            <a:round/>
          </a:ln>
        </p:spPr>
        <p:txBody>
          <a:bodyPr lIns="108820" tIns="54410" rIns="108820" bIns="54410"/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73743874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6995" y="166370"/>
            <a:ext cx="1692910" cy="6273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307340" y="266700"/>
            <a:ext cx="5146040" cy="626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CS-ST-S21B-2M/5M结构光</a:t>
            </a:r>
            <a:endParaRPr lang="zh-CN" altLang="en-US" sz="28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4748530" y="1154430"/>
          <a:ext cx="679386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295"/>
                <a:gridCol w="4687570"/>
              </a:tblGrid>
              <a:tr h="36576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产品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</a:rPr>
                        <a:t>CS-ST-S21B-2M/5M 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结构光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</a:tr>
              <a:tr h="342265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相机与镜头型号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MV-CA020-10GM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（海康）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+M2012-6MP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（威科迈）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168275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光机与驱动板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M16B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光机（安华）、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DLPC3479-DLPA3005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光源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蓝光（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450nm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）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239395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工作距离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600mm-2000mm/340mm-420mm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分辨率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1624*1240/2448*2048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供电电压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</a:rPr>
                        <a:t>/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典型功耗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DC 36V/60W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工作温度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0-45℃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采集时间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0.5-1s/0.5-1.5s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</a:rPr>
                        <a:t>Z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向重复精度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0.1mm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通讯接口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RS485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通讯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尺寸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</a:rPr>
                        <a:t>/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重量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尺寸为 178x198x68mm/重 2300g±10g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工控机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I5 12600KF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配套线缆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0" lvl="1" indent="0" algn="l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buClrTx/>
                        <a:buSzTx/>
                        <a:buNone/>
                      </a:pPr>
                      <a:r>
                        <a:rPr lang="en-US" altLang="zh-CN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M12-A-2</a:t>
                      </a:r>
                      <a:r>
                        <a:rPr lang="zh-CN" altLang="en-US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芯头针</a:t>
                      </a:r>
                      <a:r>
                        <a:rPr lang="en-US" altLang="zh-CN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 to 2C</a:t>
                      </a:r>
                      <a:r>
                        <a:rPr lang="zh-CN" altLang="en-US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电源（电源线）</a:t>
                      </a:r>
                      <a:r>
                        <a:rPr lang="en-US" altLang="zh-CN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*1</a:t>
                      </a:r>
                      <a:r>
                        <a:rPr lang="zh-CN" altLang="en-US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、</a:t>
                      </a:r>
                      <a:r>
                        <a:rPr lang="en-US" altLang="zh-CN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M12-A-4</a:t>
                      </a:r>
                      <a:r>
                        <a:rPr lang="zh-CN" altLang="en-US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芯头针</a:t>
                      </a:r>
                      <a:r>
                        <a:rPr lang="en-US" altLang="zh-CN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 to 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DB9  (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串口</a:t>
                      </a:r>
                      <a:r>
                        <a:rPr lang="zh-CN" altLang="en-US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线</a:t>
                      </a:r>
                      <a:r>
                        <a:rPr lang="en-US" altLang="zh-CN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)*1</a:t>
                      </a:r>
                      <a:r>
                        <a:rPr lang="zh-CN" altLang="en-US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、</a:t>
                      </a:r>
                      <a:r>
                        <a:rPr lang="en-US" altLang="zh-CN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M12-X-8</a:t>
                      </a:r>
                      <a:r>
                        <a:rPr lang="zh-CN" altLang="en-US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芯头针</a:t>
                      </a:r>
                      <a:r>
                        <a:rPr lang="en-US" altLang="zh-CN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 to RJ45(</a:t>
                      </a:r>
                      <a:r>
                        <a:rPr lang="zh-CN" altLang="en-US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网线</a:t>
                      </a:r>
                      <a:r>
                        <a:rPr lang="en-US" altLang="zh-CN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)*2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431800" y="1154430"/>
            <a:ext cx="4316730" cy="16370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349250" algn="l" fontAlgn="auto">
              <a:lnSpc>
                <a:spcPct val="150000"/>
              </a:lnSpc>
              <a:buClrTx/>
              <a:buSzTx/>
              <a:buNone/>
            </a:pPr>
            <a:r>
              <a:rPr lang="en-US" altLang="zh-CN" baseline="30000" dirty="0" err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该相机融合结构光技术与相机系统，用于捕获和处理三维空间信息，可在物流和智能制造中识别、追踪物品，实现自动化操作</a:t>
            </a:r>
            <a:r>
              <a:rPr lang="en-US" altLang="zh-CN" baseline="30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</a:t>
            </a:r>
            <a:endParaRPr lang="en-US" altLang="zh-CN" baseline="30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349250" algn="l" fontAlgn="auto">
              <a:lnSpc>
                <a:spcPct val="150000"/>
              </a:lnSpc>
              <a:buClrTx/>
              <a:buSzTx/>
              <a:buNone/>
            </a:pPr>
            <a:r>
              <a:rPr lang="en-US" altLang="zh-CN" baseline="30000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系统组成包含一个3D相机、一个电源适配器，配有串口线、1米电源线各一条以及两条网线 </a:t>
            </a:r>
            <a:r>
              <a:rPr lang="en-US" altLang="zh-CN" baseline="30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</a:t>
            </a:r>
            <a:endParaRPr lang="en-US" altLang="zh-CN" baseline="30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457200" algn="l" fontAlgn="auto">
              <a:lnSpc>
                <a:spcPct val="150000"/>
              </a:lnSpc>
              <a:buClrTx/>
              <a:buSzTx/>
              <a:buNone/>
            </a:pPr>
            <a:endParaRPr lang="en-US" altLang="zh-CN" baseline="30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457200" algn="l" fontAlgn="auto">
              <a:lnSpc>
                <a:spcPct val="150000"/>
              </a:lnSpc>
              <a:buClrTx/>
              <a:buSzTx/>
              <a:buNone/>
            </a:pPr>
            <a:endParaRPr lang="en-US" altLang="zh-CN" baseline="30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457200" algn="l" fontAlgn="auto">
              <a:lnSpc>
                <a:spcPct val="150000"/>
              </a:lnSpc>
              <a:buClrTx/>
              <a:buSzTx/>
              <a:buNone/>
            </a:pPr>
            <a:endParaRPr lang="en-US" altLang="zh-CN" baseline="30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457200" algn="l" fontAlgn="auto">
              <a:lnSpc>
                <a:spcPct val="150000"/>
              </a:lnSpc>
              <a:buClrTx/>
              <a:buSzTx/>
              <a:buNone/>
            </a:pPr>
            <a:endParaRPr lang="en-US" altLang="zh-CN" baseline="30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457200" algn="l" fontAlgn="auto">
              <a:lnSpc>
                <a:spcPct val="150000"/>
              </a:lnSpc>
              <a:buClrTx/>
              <a:buSzTx/>
              <a:buNone/>
            </a:pPr>
            <a:endParaRPr lang="en-US" altLang="zh-CN" baseline="30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457200" algn="l" fontAlgn="auto">
              <a:lnSpc>
                <a:spcPct val="150000"/>
              </a:lnSpc>
              <a:buClrTx/>
              <a:buSzTx/>
              <a:buNone/>
            </a:pP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endParaRPr lang="zh-CN" altLang="en-US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31800" y="4286885"/>
            <a:ext cx="3975100" cy="2033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None/>
            </a:pPr>
            <a:r>
              <a:rPr lang="en-US" altLang="zh-CN" b="1" baseline="30000">
                <a:latin typeface="楷体" panose="02010609060101010101" charset="-122"/>
                <a:ea typeface="楷体" panose="02010609060101010101" charset="-122"/>
                <a:sym typeface="+mn-ea"/>
              </a:rPr>
              <a:t>产品特点：</a:t>
            </a:r>
            <a:endParaRPr lang="en-US" altLang="zh-CN" b="1" baseline="3000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marL="0" lvl="1" indent="-28575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l"/>
            </a:pPr>
            <a:r>
              <a:rPr lang="en-US" altLang="zh-CN" baseline="30000" dirty="0" err="1">
                <a:latin typeface="楷体" panose="02010609060101010101" charset="-122"/>
                <a:ea typeface="楷体" panose="02010609060101010101" charset="-122"/>
                <a:sym typeface="+mn-ea"/>
              </a:rPr>
              <a:t>正弦结构光方案成像快</a:t>
            </a:r>
            <a:r>
              <a:rPr lang="en-US" altLang="zh-CN" baseline="30000">
                <a:latin typeface="楷体" panose="02010609060101010101" charset="-122"/>
                <a:ea typeface="楷体" panose="02010609060101010101" charset="-122"/>
                <a:sym typeface="+mn-ea"/>
              </a:rPr>
              <a:t>；</a:t>
            </a:r>
            <a:endParaRPr lang="en-US" altLang="zh-CN" baseline="3000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marL="285750" indent="-28575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l"/>
            </a:pPr>
            <a:r>
              <a:rPr lang="en-US" altLang="zh-CN" baseline="30000" dirty="0" err="1">
                <a:latin typeface="楷体" panose="02010609060101010101" charset="-122"/>
                <a:ea typeface="楷体" panose="02010609060101010101" charset="-122"/>
                <a:sym typeface="+mn-ea"/>
              </a:rPr>
              <a:t>选用高级别抗冲击、防震硬件，稳定可靠</a:t>
            </a:r>
            <a:r>
              <a:rPr lang="en-US" altLang="zh-CN" baseline="30000">
                <a:latin typeface="楷体" panose="02010609060101010101" charset="-122"/>
                <a:ea typeface="楷体" panose="02010609060101010101" charset="-122"/>
                <a:sym typeface="+mn-ea"/>
              </a:rPr>
              <a:t>；</a:t>
            </a:r>
            <a:endParaRPr lang="en-US" altLang="zh-CN" baseline="3000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marL="285750" indent="-28575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l"/>
            </a:pPr>
            <a:r>
              <a:rPr lang="en-US" altLang="zh-CN" baseline="30000" dirty="0" err="1">
                <a:latin typeface="楷体" panose="02010609060101010101" charset="-122"/>
                <a:ea typeface="楷体" panose="02010609060101010101" charset="-122"/>
                <a:sym typeface="+mn-ea"/>
              </a:rPr>
              <a:t>固定或移动位置安装，抗干扰能力强</a:t>
            </a:r>
            <a:r>
              <a:rPr lang="en-US" altLang="zh-CN" baseline="30000">
                <a:latin typeface="楷体" panose="02010609060101010101" charset="-122"/>
                <a:ea typeface="楷体" panose="02010609060101010101" charset="-122"/>
                <a:sym typeface="+mn-ea"/>
              </a:rPr>
              <a:t>；</a:t>
            </a:r>
            <a:endParaRPr lang="en-US" altLang="zh-CN" baseline="3000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marL="285750" indent="-28575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l"/>
            </a:pPr>
            <a:r>
              <a:rPr lang="en-US" altLang="zh-CN" baseline="30000" dirty="0" err="1">
                <a:latin typeface="楷体" panose="02010609060101010101" charset="-122"/>
                <a:ea typeface="楷体" panose="02010609060101010101" charset="-122"/>
                <a:sym typeface="+mn-ea"/>
              </a:rPr>
              <a:t>适用于小视野的工作场景</a:t>
            </a:r>
            <a:r>
              <a:rPr lang="zh-CN" altLang="en-US" baseline="30000">
                <a:latin typeface="楷体" panose="02010609060101010101" charset="-122"/>
                <a:ea typeface="楷体" panose="02010609060101010101" charset="-122"/>
                <a:sym typeface="+mn-ea"/>
              </a:rPr>
              <a:t>；</a:t>
            </a:r>
            <a:endParaRPr lang="en-US" altLang="zh-CN" baseline="3000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marL="285750" indent="-28575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l"/>
            </a:pPr>
            <a:r>
              <a:rPr lang="en-US" altLang="zh-CN" baseline="30000" dirty="0" err="1">
                <a:latin typeface="楷体" panose="02010609060101010101" charset="-122"/>
                <a:ea typeface="楷体" panose="02010609060101010101" charset="-122"/>
                <a:sym typeface="+mn-ea"/>
              </a:rPr>
              <a:t>快速工件识别、快速定姿定位</a:t>
            </a:r>
            <a:r>
              <a:rPr lang="zh-CN" altLang="en-US" baseline="30000">
                <a:latin typeface="楷体" panose="02010609060101010101" charset="-122"/>
                <a:ea typeface="楷体" panose="02010609060101010101" charset="-122"/>
                <a:sym typeface="+mn-ea"/>
              </a:rPr>
              <a:t>；</a:t>
            </a:r>
            <a:endParaRPr lang="en-US" altLang="zh-CN" baseline="3000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marL="285750" indent="-28575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l"/>
            </a:pPr>
            <a:r>
              <a:rPr lang="en-US" altLang="zh-CN" baseline="30000" dirty="0" err="1">
                <a:latin typeface="楷体" panose="02010609060101010101" charset="-122"/>
                <a:ea typeface="楷体" panose="02010609060101010101" charset="-122"/>
                <a:sym typeface="+mn-ea"/>
              </a:rPr>
              <a:t>适用一定程度黑色、反光物体的识别定位</a:t>
            </a:r>
            <a:r>
              <a:rPr lang="zh-CN" altLang="en-US" baseline="30000">
                <a:latin typeface="楷体" panose="02010609060101010101" charset="-122"/>
                <a:ea typeface="楷体" panose="02010609060101010101" charset="-122"/>
                <a:sym typeface="+mn-ea"/>
              </a:rPr>
              <a:t>。</a:t>
            </a:r>
            <a:endParaRPr lang="en-US" altLang="zh-CN" baseline="30000">
              <a:latin typeface="楷体" panose="02010609060101010101" charset="-122"/>
              <a:ea typeface="楷体" panose="02010609060101010101" charset="-122"/>
            </a:endParaRPr>
          </a:p>
          <a:p>
            <a:endParaRPr lang="zh-CN" altLang="en-US"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l="16803" t="10671" r="16394" b="5073"/>
          <a:stretch>
            <a:fillRect/>
          </a:stretch>
        </p:blipFill>
        <p:spPr>
          <a:xfrm>
            <a:off x="1533525" y="2621915"/>
            <a:ext cx="2351405" cy="17532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1"/>
          <p:cNvSpPr/>
          <p:nvPr>
            <p:custDataLst>
              <p:tags r:id="rId1"/>
            </p:custDataLst>
          </p:nvPr>
        </p:nvSpPr>
        <p:spPr>
          <a:xfrm>
            <a:off x="6221674" y="1278724"/>
            <a:ext cx="5272461" cy="5057941"/>
          </a:xfrm>
          <a:prstGeom prst="roundRect">
            <a:avLst>
              <a:gd name="adj" fmla="val 5029"/>
            </a:avLst>
          </a:prstGeom>
          <a:gradFill>
            <a:gsLst>
              <a:gs pos="0">
                <a:srgbClr val="FFFFFF">
                  <a:alpha val="10000"/>
                </a:srgbClr>
              </a:gs>
              <a:gs pos="100000">
                <a:schemeClr val="accent1">
                  <a:alpha val="15000"/>
                </a:schemeClr>
              </a:gs>
            </a:gsLst>
            <a:lin ang="5400000" scaled="1"/>
          </a:gradFill>
          <a:ln w="9525">
            <a:solidFill>
              <a:schemeClr val="accent1">
                <a:lumMod val="60000"/>
                <a:lumOff val="40000"/>
                <a:alpha val="60000"/>
              </a:schemeClr>
            </a:solidFill>
          </a:ln>
          <a:effectLst>
            <a:outerShdw blurRad="254000" dist="63500" dir="5400000" sx="80000" sy="80000" algn="t" rotWithShape="0">
              <a:schemeClr val="bg1">
                <a:lumMod val="50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rgbClr val="FFFFFF"/>
                </a:solidFill>
                <a:cs typeface="+mn-ea"/>
                <a:sym typeface="+mn-lt"/>
              </a:rPr>
              <a:t> </a:t>
            </a:r>
            <a:endParaRPr lang="en-US" altLang="zh-CN" b="1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26" name="1"/>
          <p:cNvSpPr/>
          <p:nvPr>
            <p:custDataLst>
              <p:tags r:id="rId2"/>
            </p:custDataLst>
          </p:nvPr>
        </p:nvSpPr>
        <p:spPr>
          <a:xfrm>
            <a:off x="338455" y="1278724"/>
            <a:ext cx="5272461" cy="5057941"/>
          </a:xfrm>
          <a:prstGeom prst="roundRect">
            <a:avLst>
              <a:gd name="adj" fmla="val 5029"/>
            </a:avLst>
          </a:prstGeom>
          <a:gradFill>
            <a:gsLst>
              <a:gs pos="0">
                <a:srgbClr val="FFFFFF">
                  <a:alpha val="10000"/>
                </a:srgbClr>
              </a:gs>
              <a:gs pos="100000">
                <a:schemeClr val="accent1">
                  <a:alpha val="15000"/>
                </a:schemeClr>
              </a:gs>
            </a:gsLst>
            <a:lin ang="5400000" scaled="1"/>
          </a:gradFill>
          <a:ln w="9525">
            <a:solidFill>
              <a:schemeClr val="accent1">
                <a:lumMod val="60000"/>
                <a:lumOff val="40000"/>
                <a:alpha val="60000"/>
              </a:schemeClr>
            </a:solidFill>
          </a:ln>
          <a:effectLst>
            <a:outerShdw blurRad="254000" dist="63500" dir="5400000" sx="80000" sy="80000" algn="t" rotWithShape="0">
              <a:schemeClr val="bg1">
                <a:lumMod val="50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rgbClr val="FFFFFF"/>
                </a:solidFill>
                <a:cs typeface="+mn-ea"/>
                <a:sym typeface="+mn-lt"/>
              </a:rPr>
              <a:t> </a:t>
            </a:r>
            <a:endParaRPr lang="en-US" altLang="zh-CN" b="1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20" name="Line 35"/>
          <p:cNvSpPr>
            <a:spLocks noChangeShapeType="1"/>
          </p:cNvSpPr>
          <p:nvPr/>
        </p:nvSpPr>
        <p:spPr bwMode="auto">
          <a:xfrm>
            <a:off x="1" y="893379"/>
            <a:ext cx="9165020" cy="0"/>
          </a:xfrm>
          <a:prstGeom prst="line">
            <a:avLst/>
          </a:prstGeom>
          <a:noFill/>
          <a:ln w="44450" cmpd="thickThin">
            <a:solidFill>
              <a:srgbClr val="0040C0"/>
            </a:solidFill>
            <a:round/>
          </a:ln>
        </p:spPr>
        <p:txBody>
          <a:bodyPr lIns="108820" tIns="54410" rIns="108820" bIns="54410"/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73743874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6995" y="166370"/>
            <a:ext cx="1692910" cy="6273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307340" y="266700"/>
            <a:ext cx="6598285" cy="527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CS-ST-S21B-2M/5M结构光</a:t>
            </a:r>
            <a:r>
              <a:rPr lang="en-US" altLang="zh-CN" sz="2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-视野</a:t>
            </a:r>
            <a:r>
              <a:rPr lang="zh-CN" altLang="en-US" sz="2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图</a:t>
            </a:r>
            <a:endParaRPr lang="zh-CN" altLang="en-US" sz="28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44" name="标题"/>
          <p:cNvSpPr txBox="1"/>
          <p:nvPr>
            <p:custDataLst>
              <p:tags r:id="rId4"/>
            </p:custDataLst>
          </p:nvPr>
        </p:nvSpPr>
        <p:spPr>
          <a:xfrm>
            <a:off x="640226" y="1526701"/>
            <a:ext cx="4668919" cy="8095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2800" b="1" spc="300" dirty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CS-ST-S21B-2M</a:t>
            </a:r>
            <a:endParaRPr lang="en-US" sz="2800" b="1" spc="300" dirty="0">
              <a:solidFill>
                <a:schemeClr val="accent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85" name="形状4"/>
          <p:cNvSpPr/>
          <p:nvPr>
            <p:custDataLst>
              <p:tags r:id="rId5"/>
            </p:custDataLst>
          </p:nvPr>
        </p:nvSpPr>
        <p:spPr>
          <a:xfrm>
            <a:off x="640503" y="2279112"/>
            <a:ext cx="4481953" cy="78723"/>
          </a:xfrm>
          <a:prstGeom prst="roundRect">
            <a:avLst>
              <a:gd name="adj" fmla="val 50000"/>
            </a:avLst>
          </a:prstGeom>
          <a:solidFill>
            <a:schemeClr val="accent1">
              <a:alpha val="2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 lang="en-US" altLang="zh-CN" sz="3200" b="1" dirty="0">
              <a:effectLst>
                <a:reflection blurRad="6350" stA="26000" endPos="60000" dist="30480" dir="5400000" sy="-100000" algn="bl" rotWithShape="0"/>
              </a:effectLst>
              <a:cs typeface="+mn-ea"/>
              <a:sym typeface="+mn-lt"/>
            </a:endParaRPr>
          </a:p>
        </p:txBody>
      </p:sp>
      <p:sp>
        <p:nvSpPr>
          <p:cNvPr id="86" name="形状5"/>
          <p:cNvSpPr/>
          <p:nvPr>
            <p:custDataLst>
              <p:tags r:id="rId6"/>
            </p:custDataLst>
          </p:nvPr>
        </p:nvSpPr>
        <p:spPr>
          <a:xfrm>
            <a:off x="640882" y="2287367"/>
            <a:ext cx="1199211" cy="7872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60000"/>
                </a:schemeClr>
              </a:gs>
              <a:gs pos="100000">
                <a:schemeClr val="accent1"/>
              </a:gs>
            </a:gsLst>
            <a:lin ang="10800000" scaled="1"/>
            <a:tileRect/>
          </a:gra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 lang="en-US" altLang="zh-CN" sz="3200" b="1" dirty="0">
              <a:effectLst>
                <a:reflection blurRad="6350" stA="26000" endPos="60000" dist="30480" dir="5400000" sy="-100000" algn="bl" rotWithShape="0"/>
              </a:effectLst>
              <a:cs typeface="+mn-ea"/>
              <a:sym typeface="+mn-lt"/>
            </a:endParaRPr>
          </a:p>
        </p:txBody>
      </p:sp>
      <p:sp>
        <p:nvSpPr>
          <p:cNvPr id="18" name="标题"/>
          <p:cNvSpPr txBox="1"/>
          <p:nvPr>
            <p:custDataLst>
              <p:tags r:id="rId7"/>
            </p:custDataLst>
          </p:nvPr>
        </p:nvSpPr>
        <p:spPr>
          <a:xfrm>
            <a:off x="6523445" y="1526701"/>
            <a:ext cx="4668919" cy="8095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2800" b="1" spc="300" dirty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CS-ST-S21B-5M</a:t>
            </a:r>
            <a:endParaRPr lang="zh-CN" altLang="en-US" sz="2800" b="1" spc="300" dirty="0">
              <a:solidFill>
                <a:schemeClr val="accent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8" name="形状2"/>
          <p:cNvSpPr/>
          <p:nvPr>
            <p:custDataLst>
              <p:tags r:id="rId8"/>
            </p:custDataLst>
          </p:nvPr>
        </p:nvSpPr>
        <p:spPr>
          <a:xfrm>
            <a:off x="6523086" y="2279112"/>
            <a:ext cx="4481953" cy="78723"/>
          </a:xfrm>
          <a:prstGeom prst="roundRect">
            <a:avLst>
              <a:gd name="adj" fmla="val 50000"/>
            </a:avLst>
          </a:prstGeom>
          <a:solidFill>
            <a:schemeClr val="accent1">
              <a:alpha val="2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 lang="en-US" altLang="zh-CN" sz="3200" b="1" dirty="0">
              <a:effectLst>
                <a:reflection blurRad="6350" stA="26000" endPos="60000" dist="30480" dir="5400000" sy="-100000" algn="bl" rotWithShape="0"/>
              </a:effectLst>
              <a:cs typeface="+mn-ea"/>
              <a:sym typeface="+mn-lt"/>
            </a:endParaRPr>
          </a:p>
        </p:txBody>
      </p:sp>
      <p:sp>
        <p:nvSpPr>
          <p:cNvPr id="21" name="形状"/>
          <p:cNvSpPr/>
          <p:nvPr>
            <p:custDataLst>
              <p:tags r:id="rId9"/>
            </p:custDataLst>
          </p:nvPr>
        </p:nvSpPr>
        <p:spPr>
          <a:xfrm>
            <a:off x="6524101" y="2279112"/>
            <a:ext cx="1199211" cy="7872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60000"/>
                </a:schemeClr>
              </a:gs>
              <a:gs pos="100000">
                <a:schemeClr val="accent1"/>
              </a:gs>
            </a:gsLst>
            <a:lin ang="10800000" scaled="1"/>
            <a:tileRect/>
          </a:gra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 lang="en-US" altLang="zh-CN" sz="3200" b="1" dirty="0">
              <a:effectLst>
                <a:reflection blurRad="6350" stA="26000" endPos="60000" dist="30480" dir="5400000" sy="-100000" algn="bl" rotWithShape="0"/>
              </a:effectLst>
              <a:cs typeface="+mn-ea"/>
              <a:sym typeface="+mn-lt"/>
            </a:endParaRP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0"/>
          <a:srcRect r="3444"/>
          <a:stretch>
            <a:fillRect/>
          </a:stretch>
        </p:blipFill>
        <p:spPr>
          <a:xfrm>
            <a:off x="640715" y="2670175"/>
            <a:ext cx="4617720" cy="33794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1"/>
          <a:srcRect l="8102" t="3918" r="14514" b="8567"/>
          <a:stretch>
            <a:fillRect/>
          </a:stretch>
        </p:blipFill>
        <p:spPr>
          <a:xfrm>
            <a:off x="6617335" y="2670175"/>
            <a:ext cx="4387850" cy="33134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Line 35"/>
          <p:cNvSpPr>
            <a:spLocks noChangeShapeType="1"/>
          </p:cNvSpPr>
          <p:nvPr/>
        </p:nvSpPr>
        <p:spPr bwMode="auto">
          <a:xfrm>
            <a:off x="1" y="893379"/>
            <a:ext cx="9165020" cy="0"/>
          </a:xfrm>
          <a:prstGeom prst="line">
            <a:avLst/>
          </a:prstGeom>
          <a:noFill/>
          <a:ln w="44450" cmpd="thickThin">
            <a:solidFill>
              <a:srgbClr val="0040C0"/>
            </a:solidFill>
            <a:round/>
          </a:ln>
        </p:spPr>
        <p:txBody>
          <a:bodyPr lIns="108820" tIns="54410" rIns="108820" bIns="54410"/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73743874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6995" y="166370"/>
            <a:ext cx="1692910" cy="6273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307340" y="266700"/>
            <a:ext cx="3877310" cy="626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CS-ST-S21D结构光</a:t>
            </a:r>
            <a:endParaRPr lang="zh-CN" altLang="en-US" sz="28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4748530" y="1154430"/>
          <a:ext cx="679386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295"/>
                <a:gridCol w="4687570"/>
              </a:tblGrid>
              <a:tr h="36576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产品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CS-ST-S21D结构光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</a:tr>
              <a:tr h="342265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相机与镜头型号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MV-CA020-10GM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（海康）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+M0828-MPW3 8mm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（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computar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）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168275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光机与驱动板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M11B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（非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LC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）光机（安华）、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DLPC3479-DLPA3005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光源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蓝光（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450nm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）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239395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工作距离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800mm-1600mm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分辨率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1624*1240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供电电压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</a:rPr>
                        <a:t>/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典型功耗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DC 36V/60W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工作温度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0-45℃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采集时间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0.6-1.2s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</a:rPr>
                        <a:t>Z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向重复精度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0.1mm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通讯接口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RS485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通讯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尺寸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</a:rPr>
                        <a:t>/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重量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尺寸为 210x180x70mm/重 2387.5g±5g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工控机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I5 12600KF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配套线缆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0" lvl="1" indent="0" algn="l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buClrTx/>
                        <a:buSzTx/>
                        <a:buNone/>
                      </a:pPr>
                      <a:r>
                        <a:rPr lang="en-US" altLang="zh-CN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M12-A-2</a:t>
                      </a:r>
                      <a:r>
                        <a:rPr lang="zh-CN" altLang="en-US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芯头针</a:t>
                      </a:r>
                      <a:r>
                        <a:rPr lang="en-US" altLang="zh-CN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 to 2C</a:t>
                      </a:r>
                      <a:r>
                        <a:rPr lang="zh-CN" altLang="en-US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电源（电源线）</a:t>
                      </a:r>
                      <a:r>
                        <a:rPr lang="en-US" altLang="zh-CN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*1</a:t>
                      </a:r>
                      <a:r>
                        <a:rPr lang="zh-CN" altLang="en-US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、</a:t>
                      </a:r>
                      <a:r>
                        <a:rPr lang="en-US" altLang="zh-CN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M12-A-4</a:t>
                      </a:r>
                      <a:r>
                        <a:rPr lang="zh-CN" altLang="en-US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芯头针</a:t>
                      </a:r>
                      <a:r>
                        <a:rPr lang="en-US" altLang="zh-CN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 to 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DB9  (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串口</a:t>
                      </a:r>
                      <a:r>
                        <a:rPr lang="zh-CN" altLang="en-US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线</a:t>
                      </a:r>
                      <a:r>
                        <a:rPr lang="en-US" altLang="zh-CN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)*1</a:t>
                      </a:r>
                      <a:r>
                        <a:rPr lang="zh-CN" altLang="en-US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、</a:t>
                      </a:r>
                      <a:r>
                        <a:rPr lang="en-US" altLang="zh-CN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M12-X-8</a:t>
                      </a:r>
                      <a:r>
                        <a:rPr lang="zh-CN" altLang="en-US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芯头针</a:t>
                      </a:r>
                      <a:r>
                        <a:rPr lang="en-US" altLang="zh-CN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 to RJ45(</a:t>
                      </a:r>
                      <a:r>
                        <a:rPr lang="zh-CN" altLang="en-US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网线</a:t>
                      </a:r>
                      <a:r>
                        <a:rPr lang="en-US" altLang="zh-CN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)*2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431800" y="1154430"/>
            <a:ext cx="4316730" cy="16370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lvl="1" indent="349250" algn="l" fontAlgn="auto">
              <a:lnSpc>
                <a:spcPct val="150000"/>
              </a:lnSpc>
              <a:buClrTx/>
              <a:buSzTx/>
              <a:buNone/>
            </a:pPr>
            <a:r>
              <a:rPr lang="en-US" altLang="zh-CN" baseline="30000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该相机结合结构光技术与相机系统，用于获取和处理三维空间信息，能在物流和智能制造场景中，对物品进行识别追踪，实现自动化分拣、定位及引导机器人操作。</a:t>
            </a:r>
            <a:endParaRPr lang="en-US" altLang="zh-CN" baseline="300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marL="0" indent="349250" algn="l" fontAlgn="auto">
              <a:lnSpc>
                <a:spcPct val="150000"/>
              </a:lnSpc>
              <a:buClrTx/>
              <a:buSzTx/>
              <a:buNone/>
            </a:pPr>
            <a:r>
              <a:rPr lang="en-US" altLang="zh-CN" baseline="30000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系统组成包括一个3D相机、一个电源适配器，以及一条电源线、一条串口线和两条网线。</a:t>
            </a:r>
            <a:endParaRPr lang="en-US" altLang="zh-CN" baseline="30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457200" algn="l" fontAlgn="auto">
              <a:lnSpc>
                <a:spcPct val="150000"/>
              </a:lnSpc>
              <a:buClrTx/>
              <a:buSzTx/>
              <a:buNone/>
            </a:pPr>
            <a:endParaRPr lang="en-US" altLang="zh-CN" baseline="30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457200" algn="l" fontAlgn="auto">
              <a:lnSpc>
                <a:spcPct val="150000"/>
              </a:lnSpc>
              <a:buClrTx/>
              <a:buSzTx/>
              <a:buNone/>
            </a:pPr>
            <a:endParaRPr lang="en-US" altLang="zh-CN" baseline="30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457200" algn="l" fontAlgn="auto">
              <a:lnSpc>
                <a:spcPct val="150000"/>
              </a:lnSpc>
              <a:buClrTx/>
              <a:buSzTx/>
              <a:buNone/>
            </a:pPr>
            <a:endParaRPr lang="en-US" altLang="zh-CN" baseline="30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457200" algn="l" fontAlgn="auto">
              <a:lnSpc>
                <a:spcPct val="150000"/>
              </a:lnSpc>
              <a:buClrTx/>
              <a:buSzTx/>
              <a:buNone/>
            </a:pPr>
            <a:endParaRPr lang="en-US" altLang="zh-CN" baseline="30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457200" algn="l" fontAlgn="auto">
              <a:lnSpc>
                <a:spcPct val="150000"/>
              </a:lnSpc>
              <a:buClrTx/>
              <a:buSzTx/>
              <a:buNone/>
            </a:pP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endParaRPr lang="zh-CN" altLang="en-US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31800" y="4286885"/>
            <a:ext cx="3975100" cy="2033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None/>
            </a:pPr>
            <a:r>
              <a:rPr lang="en-US" altLang="zh-CN" b="1" baseline="30000">
                <a:latin typeface="楷体" panose="02010609060101010101" charset="-122"/>
                <a:ea typeface="楷体" panose="02010609060101010101" charset="-122"/>
                <a:sym typeface="+mn-ea"/>
              </a:rPr>
              <a:t>产品特点：</a:t>
            </a:r>
            <a:endParaRPr lang="en-US" altLang="zh-CN" b="1" baseline="3000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marL="0" lvl="1" indent="-28575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l"/>
            </a:pPr>
            <a:r>
              <a:rPr lang="en-US" altLang="zh-CN" baseline="30000" dirty="0" err="1">
                <a:latin typeface="楷体" panose="02010609060101010101" charset="-122"/>
                <a:ea typeface="楷体" panose="02010609060101010101" charset="-122"/>
                <a:sym typeface="+mn-ea"/>
              </a:rPr>
              <a:t>正弦结构光方案成像快</a:t>
            </a:r>
            <a:r>
              <a:rPr lang="en-US" altLang="zh-CN" baseline="30000">
                <a:latin typeface="楷体" panose="02010609060101010101" charset="-122"/>
                <a:ea typeface="楷体" panose="02010609060101010101" charset="-122"/>
                <a:sym typeface="+mn-ea"/>
              </a:rPr>
              <a:t>；</a:t>
            </a:r>
            <a:endParaRPr lang="en-US" altLang="zh-CN" baseline="3000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marL="285750" indent="-28575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l"/>
            </a:pPr>
            <a:r>
              <a:rPr lang="en-US" altLang="zh-CN" baseline="30000" dirty="0" err="1">
                <a:latin typeface="楷体" panose="02010609060101010101" charset="-122"/>
                <a:ea typeface="楷体" panose="02010609060101010101" charset="-122"/>
                <a:sym typeface="+mn-ea"/>
              </a:rPr>
              <a:t>选用高级别抗冲击、防震硬件，稳定可靠</a:t>
            </a:r>
            <a:r>
              <a:rPr lang="en-US" altLang="zh-CN" baseline="30000">
                <a:latin typeface="楷体" panose="02010609060101010101" charset="-122"/>
                <a:ea typeface="楷体" panose="02010609060101010101" charset="-122"/>
                <a:sym typeface="+mn-ea"/>
              </a:rPr>
              <a:t>；</a:t>
            </a:r>
            <a:endParaRPr lang="en-US" altLang="zh-CN" baseline="3000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marL="285750" indent="-28575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l"/>
            </a:pPr>
            <a:r>
              <a:rPr lang="en-US" altLang="zh-CN" baseline="30000" dirty="0" err="1">
                <a:latin typeface="楷体" panose="02010609060101010101" charset="-122"/>
                <a:ea typeface="楷体" panose="02010609060101010101" charset="-122"/>
                <a:sym typeface="+mn-ea"/>
              </a:rPr>
              <a:t>固定或移动位置安装，抗干扰能力强</a:t>
            </a:r>
            <a:r>
              <a:rPr lang="en-US" altLang="zh-CN" baseline="30000">
                <a:latin typeface="楷体" panose="02010609060101010101" charset="-122"/>
                <a:ea typeface="楷体" panose="02010609060101010101" charset="-122"/>
                <a:sym typeface="+mn-ea"/>
              </a:rPr>
              <a:t>；</a:t>
            </a:r>
            <a:endParaRPr lang="en-US" altLang="zh-CN" baseline="3000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marL="285750" indent="-28575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l"/>
            </a:pPr>
            <a:r>
              <a:rPr lang="en-US" altLang="zh-CN" baseline="30000" dirty="0" err="1">
                <a:latin typeface="楷体" panose="02010609060101010101" charset="-122"/>
                <a:ea typeface="楷体" panose="02010609060101010101" charset="-122"/>
                <a:sym typeface="+mn-ea"/>
              </a:rPr>
              <a:t>适用于小视野的工作场景</a:t>
            </a:r>
            <a:r>
              <a:rPr lang="zh-CN" altLang="en-US" baseline="30000">
                <a:latin typeface="楷体" panose="02010609060101010101" charset="-122"/>
                <a:ea typeface="楷体" panose="02010609060101010101" charset="-122"/>
                <a:sym typeface="+mn-ea"/>
              </a:rPr>
              <a:t>；</a:t>
            </a:r>
            <a:endParaRPr lang="en-US" altLang="zh-CN" baseline="3000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marL="285750" indent="-28575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l"/>
            </a:pPr>
            <a:r>
              <a:rPr lang="en-US" altLang="zh-CN" baseline="30000" dirty="0" err="1">
                <a:latin typeface="楷体" panose="02010609060101010101" charset="-122"/>
                <a:ea typeface="楷体" panose="02010609060101010101" charset="-122"/>
                <a:sym typeface="+mn-ea"/>
              </a:rPr>
              <a:t>快速工件识别、快速定姿定位</a:t>
            </a:r>
            <a:r>
              <a:rPr lang="zh-CN" altLang="en-US" baseline="30000">
                <a:latin typeface="楷体" panose="02010609060101010101" charset="-122"/>
                <a:ea typeface="楷体" panose="02010609060101010101" charset="-122"/>
                <a:sym typeface="+mn-ea"/>
              </a:rPr>
              <a:t>；</a:t>
            </a:r>
            <a:endParaRPr lang="en-US" altLang="zh-CN" baseline="3000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marL="285750" indent="-28575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l"/>
            </a:pPr>
            <a:r>
              <a:rPr lang="en-US" altLang="zh-CN" baseline="30000" dirty="0" err="1">
                <a:latin typeface="楷体" panose="02010609060101010101" charset="-122"/>
                <a:ea typeface="楷体" panose="02010609060101010101" charset="-122"/>
                <a:sym typeface="+mn-ea"/>
              </a:rPr>
              <a:t>适用一定程度黑色、反光物体的识别定位</a:t>
            </a:r>
            <a:r>
              <a:rPr lang="zh-CN" altLang="en-US" baseline="30000">
                <a:latin typeface="楷体" panose="02010609060101010101" charset="-122"/>
                <a:ea typeface="楷体" panose="02010609060101010101" charset="-122"/>
                <a:sym typeface="+mn-ea"/>
              </a:rPr>
              <a:t>。</a:t>
            </a:r>
            <a:endParaRPr lang="en-US" altLang="zh-CN" baseline="30000">
              <a:latin typeface="楷体" panose="02010609060101010101" charset="-122"/>
              <a:ea typeface="楷体" panose="02010609060101010101" charset="-122"/>
            </a:endParaRPr>
          </a:p>
          <a:p>
            <a:endParaRPr lang="zh-CN" altLang="en-US"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l="9711" t="5845" r="6747" b="6097"/>
          <a:stretch>
            <a:fillRect/>
          </a:stretch>
        </p:blipFill>
        <p:spPr>
          <a:xfrm>
            <a:off x="1965960" y="2523490"/>
            <a:ext cx="1833245" cy="19602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1"/>
          <p:cNvSpPr/>
          <p:nvPr>
            <p:custDataLst>
              <p:tags r:id="rId1"/>
            </p:custDataLst>
          </p:nvPr>
        </p:nvSpPr>
        <p:spPr>
          <a:xfrm>
            <a:off x="8135620" y="1278890"/>
            <a:ext cx="3844290" cy="5057775"/>
          </a:xfrm>
          <a:prstGeom prst="roundRect">
            <a:avLst>
              <a:gd name="adj" fmla="val 5029"/>
            </a:avLst>
          </a:prstGeom>
          <a:gradFill>
            <a:gsLst>
              <a:gs pos="0">
                <a:srgbClr val="FFFFFF">
                  <a:alpha val="10000"/>
                </a:srgbClr>
              </a:gs>
              <a:gs pos="100000">
                <a:schemeClr val="accent1">
                  <a:alpha val="15000"/>
                </a:schemeClr>
              </a:gs>
            </a:gsLst>
            <a:lin ang="5400000" scaled="1"/>
          </a:gradFill>
          <a:ln w="9525">
            <a:solidFill>
              <a:schemeClr val="accent1">
                <a:lumMod val="60000"/>
                <a:lumOff val="40000"/>
                <a:alpha val="60000"/>
              </a:schemeClr>
            </a:solidFill>
          </a:ln>
          <a:effectLst>
            <a:outerShdw blurRad="254000" dist="63500" dir="5400000" sx="80000" sy="80000" algn="t" rotWithShape="0">
              <a:schemeClr val="bg1">
                <a:lumMod val="50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rgbClr val="FFFFFF"/>
                </a:solidFill>
                <a:cs typeface="+mn-ea"/>
                <a:sym typeface="+mn-lt"/>
              </a:rPr>
              <a:t> </a:t>
            </a:r>
            <a:endParaRPr lang="en-US" altLang="zh-CN" b="1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26" name="1"/>
          <p:cNvSpPr/>
          <p:nvPr>
            <p:custDataLst>
              <p:tags r:id="rId2"/>
            </p:custDataLst>
          </p:nvPr>
        </p:nvSpPr>
        <p:spPr>
          <a:xfrm>
            <a:off x="307340" y="1278890"/>
            <a:ext cx="3844290" cy="5057775"/>
          </a:xfrm>
          <a:prstGeom prst="roundRect">
            <a:avLst>
              <a:gd name="adj" fmla="val 5029"/>
            </a:avLst>
          </a:prstGeom>
          <a:gradFill>
            <a:gsLst>
              <a:gs pos="0">
                <a:srgbClr val="FFFFFF">
                  <a:alpha val="10000"/>
                </a:srgbClr>
              </a:gs>
              <a:gs pos="100000">
                <a:schemeClr val="accent1">
                  <a:alpha val="15000"/>
                </a:schemeClr>
              </a:gs>
            </a:gsLst>
            <a:lin ang="5400000" scaled="1"/>
          </a:gradFill>
          <a:ln w="9525">
            <a:solidFill>
              <a:schemeClr val="accent1">
                <a:lumMod val="60000"/>
                <a:lumOff val="40000"/>
                <a:alpha val="60000"/>
              </a:schemeClr>
            </a:solidFill>
          </a:ln>
          <a:effectLst>
            <a:outerShdw blurRad="254000" dist="63500" dir="5400000" sx="80000" sy="80000" algn="t" rotWithShape="0">
              <a:schemeClr val="bg1">
                <a:lumMod val="50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rgbClr val="FFFFFF"/>
                </a:solidFill>
                <a:cs typeface="+mn-ea"/>
                <a:sym typeface="+mn-lt"/>
              </a:rPr>
              <a:t> </a:t>
            </a:r>
            <a:endParaRPr lang="en-US" altLang="zh-CN" b="1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20" name="Line 35"/>
          <p:cNvSpPr>
            <a:spLocks noChangeShapeType="1"/>
          </p:cNvSpPr>
          <p:nvPr/>
        </p:nvSpPr>
        <p:spPr bwMode="auto">
          <a:xfrm>
            <a:off x="1" y="893379"/>
            <a:ext cx="9165020" cy="0"/>
          </a:xfrm>
          <a:prstGeom prst="line">
            <a:avLst/>
          </a:prstGeom>
          <a:noFill/>
          <a:ln w="44450" cmpd="thickThin">
            <a:solidFill>
              <a:srgbClr val="0040C0"/>
            </a:solidFill>
            <a:round/>
          </a:ln>
        </p:spPr>
        <p:txBody>
          <a:bodyPr lIns="108820" tIns="54410" rIns="108820" bIns="54410"/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73743874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6995" y="166370"/>
            <a:ext cx="1692910" cy="6273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307340" y="266700"/>
            <a:ext cx="6198235" cy="527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CS-ST-S21D-S/M/L-视野图</a:t>
            </a:r>
            <a:endParaRPr lang="zh-CN" altLang="en-US" sz="28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44" name="标题"/>
          <p:cNvSpPr txBox="1"/>
          <p:nvPr>
            <p:custDataLst>
              <p:tags r:id="rId4"/>
            </p:custDataLst>
          </p:nvPr>
        </p:nvSpPr>
        <p:spPr>
          <a:xfrm>
            <a:off x="640080" y="1526540"/>
            <a:ext cx="3417570" cy="8096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altLang="zh-CN" sz="2800" b="1" spc="300" dirty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CS-ST-S21D-S</a:t>
            </a:r>
            <a:endParaRPr lang="en-US" altLang="zh-CN" sz="2800" b="1" spc="300" dirty="0">
              <a:solidFill>
                <a:schemeClr val="accent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85" name="形状4"/>
          <p:cNvSpPr/>
          <p:nvPr>
            <p:custDataLst>
              <p:tags r:id="rId5"/>
            </p:custDataLst>
          </p:nvPr>
        </p:nvSpPr>
        <p:spPr>
          <a:xfrm>
            <a:off x="640715" y="2279015"/>
            <a:ext cx="3416935" cy="76200"/>
          </a:xfrm>
          <a:prstGeom prst="roundRect">
            <a:avLst>
              <a:gd name="adj" fmla="val 50000"/>
            </a:avLst>
          </a:prstGeom>
          <a:solidFill>
            <a:schemeClr val="accent1">
              <a:alpha val="2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 lang="en-US" altLang="zh-CN" sz="3200" b="1" dirty="0">
              <a:effectLst>
                <a:reflection blurRad="6350" stA="26000" endPos="60000" dist="30480" dir="5400000" sy="-100000" algn="bl" rotWithShape="0"/>
              </a:effectLst>
              <a:cs typeface="+mn-ea"/>
              <a:sym typeface="+mn-lt"/>
            </a:endParaRPr>
          </a:p>
        </p:txBody>
      </p:sp>
      <p:sp>
        <p:nvSpPr>
          <p:cNvPr id="86" name="形状5"/>
          <p:cNvSpPr/>
          <p:nvPr>
            <p:custDataLst>
              <p:tags r:id="rId6"/>
            </p:custDataLst>
          </p:nvPr>
        </p:nvSpPr>
        <p:spPr>
          <a:xfrm>
            <a:off x="640882" y="2287367"/>
            <a:ext cx="1199211" cy="7872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60000"/>
                </a:schemeClr>
              </a:gs>
              <a:gs pos="100000">
                <a:schemeClr val="accent1"/>
              </a:gs>
            </a:gsLst>
            <a:lin ang="10800000" scaled="1"/>
            <a:tileRect/>
          </a:gra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 lang="en-US" altLang="zh-CN" sz="3200" b="1" dirty="0">
              <a:effectLst>
                <a:reflection blurRad="6350" stA="26000" endPos="60000" dist="30480" dir="5400000" sy="-100000" algn="bl" rotWithShape="0"/>
              </a:effectLst>
              <a:cs typeface="+mn-ea"/>
              <a:sym typeface="+mn-lt"/>
            </a:endParaRPr>
          </a:p>
        </p:txBody>
      </p:sp>
      <p:sp>
        <p:nvSpPr>
          <p:cNvPr id="5" name="1"/>
          <p:cNvSpPr/>
          <p:nvPr>
            <p:custDataLst>
              <p:tags r:id="rId7"/>
            </p:custDataLst>
          </p:nvPr>
        </p:nvSpPr>
        <p:spPr>
          <a:xfrm>
            <a:off x="4241165" y="1278890"/>
            <a:ext cx="3844290" cy="5057775"/>
          </a:xfrm>
          <a:prstGeom prst="roundRect">
            <a:avLst>
              <a:gd name="adj" fmla="val 5029"/>
            </a:avLst>
          </a:prstGeom>
          <a:gradFill>
            <a:gsLst>
              <a:gs pos="0">
                <a:srgbClr val="FFFFFF">
                  <a:alpha val="10000"/>
                </a:srgbClr>
              </a:gs>
              <a:gs pos="100000">
                <a:schemeClr val="accent1">
                  <a:alpha val="15000"/>
                </a:schemeClr>
              </a:gs>
            </a:gsLst>
            <a:lin ang="5400000" scaled="1"/>
          </a:gradFill>
          <a:ln w="9525">
            <a:solidFill>
              <a:schemeClr val="accent1">
                <a:lumMod val="60000"/>
                <a:lumOff val="40000"/>
                <a:alpha val="60000"/>
              </a:schemeClr>
            </a:solidFill>
          </a:ln>
          <a:effectLst>
            <a:outerShdw blurRad="254000" dist="63500" dir="5400000" sx="80000" sy="80000" algn="t" rotWithShape="0">
              <a:schemeClr val="bg1">
                <a:lumMod val="50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rgbClr val="FFFFFF"/>
                </a:solidFill>
                <a:cs typeface="+mn-ea"/>
                <a:sym typeface="+mn-lt"/>
              </a:rPr>
              <a:t> </a:t>
            </a:r>
            <a:endParaRPr lang="en-US" altLang="zh-CN" b="1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6" name="标题"/>
          <p:cNvSpPr txBox="1"/>
          <p:nvPr>
            <p:custDataLst>
              <p:tags r:id="rId8"/>
            </p:custDataLst>
          </p:nvPr>
        </p:nvSpPr>
        <p:spPr>
          <a:xfrm>
            <a:off x="8317230" y="1534795"/>
            <a:ext cx="3417570" cy="8096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altLang="zh-CN" sz="2800" b="1" spc="300" dirty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CS-ST-S21D-L</a:t>
            </a:r>
            <a:endParaRPr lang="zh-CN" altLang="en-US" sz="2800" b="1" spc="300" dirty="0">
              <a:solidFill>
                <a:schemeClr val="accent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9" name="形状4"/>
          <p:cNvSpPr/>
          <p:nvPr>
            <p:custDataLst>
              <p:tags r:id="rId9"/>
            </p:custDataLst>
          </p:nvPr>
        </p:nvSpPr>
        <p:spPr>
          <a:xfrm>
            <a:off x="4422775" y="2259965"/>
            <a:ext cx="3416935" cy="76200"/>
          </a:xfrm>
          <a:prstGeom prst="roundRect">
            <a:avLst>
              <a:gd name="adj" fmla="val 50000"/>
            </a:avLst>
          </a:prstGeom>
          <a:solidFill>
            <a:schemeClr val="accent1">
              <a:alpha val="2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 lang="en-US" altLang="zh-CN" sz="3200" b="1" dirty="0">
              <a:effectLst>
                <a:reflection blurRad="6350" stA="26000" endPos="60000" dist="30480" dir="5400000" sy="-100000" algn="bl" rotWithShape="0"/>
              </a:effectLst>
              <a:cs typeface="+mn-ea"/>
              <a:sym typeface="+mn-lt"/>
            </a:endParaRPr>
          </a:p>
        </p:txBody>
      </p:sp>
      <p:sp>
        <p:nvSpPr>
          <p:cNvPr id="10" name="形状5"/>
          <p:cNvSpPr/>
          <p:nvPr>
            <p:custDataLst>
              <p:tags r:id="rId10"/>
            </p:custDataLst>
          </p:nvPr>
        </p:nvSpPr>
        <p:spPr>
          <a:xfrm>
            <a:off x="4422942" y="2260062"/>
            <a:ext cx="1199211" cy="7872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60000"/>
                </a:schemeClr>
              </a:gs>
              <a:gs pos="100000">
                <a:schemeClr val="accent1"/>
              </a:gs>
            </a:gsLst>
            <a:lin ang="10800000" scaled="1"/>
            <a:tileRect/>
          </a:gra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 lang="en-US" altLang="zh-CN" sz="3200" b="1" dirty="0">
              <a:effectLst>
                <a:reflection blurRad="6350" stA="26000" endPos="60000" dist="30480" dir="5400000" sy="-100000" algn="bl" rotWithShape="0"/>
              </a:effectLst>
              <a:cs typeface="+mn-ea"/>
              <a:sym typeface="+mn-lt"/>
            </a:endParaRPr>
          </a:p>
        </p:txBody>
      </p:sp>
      <p:sp>
        <p:nvSpPr>
          <p:cNvPr id="12" name="标题"/>
          <p:cNvSpPr txBox="1"/>
          <p:nvPr>
            <p:custDataLst>
              <p:tags r:id="rId11"/>
            </p:custDataLst>
          </p:nvPr>
        </p:nvSpPr>
        <p:spPr>
          <a:xfrm>
            <a:off x="4478655" y="1494155"/>
            <a:ext cx="3417570" cy="8096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altLang="zh-CN" sz="2800" b="1" spc="300" dirty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CS-ST-S21D-M</a:t>
            </a:r>
            <a:endParaRPr lang="zh-CN" altLang="en-US" sz="2800" b="1" spc="300" dirty="0">
              <a:solidFill>
                <a:schemeClr val="accent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4" name="形状4"/>
          <p:cNvSpPr/>
          <p:nvPr>
            <p:custDataLst>
              <p:tags r:id="rId12"/>
            </p:custDataLst>
          </p:nvPr>
        </p:nvSpPr>
        <p:spPr>
          <a:xfrm>
            <a:off x="8268970" y="2262505"/>
            <a:ext cx="3416935" cy="76200"/>
          </a:xfrm>
          <a:prstGeom prst="roundRect">
            <a:avLst>
              <a:gd name="adj" fmla="val 50000"/>
            </a:avLst>
          </a:prstGeom>
          <a:solidFill>
            <a:schemeClr val="accent1">
              <a:alpha val="2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 lang="en-US" altLang="zh-CN" sz="3200" b="1" dirty="0">
              <a:effectLst>
                <a:reflection blurRad="6350" stA="26000" endPos="60000" dist="30480" dir="5400000" sy="-100000" algn="bl" rotWithShape="0"/>
              </a:effectLst>
              <a:cs typeface="+mn-ea"/>
              <a:sym typeface="+mn-lt"/>
            </a:endParaRPr>
          </a:p>
        </p:txBody>
      </p:sp>
      <p:sp>
        <p:nvSpPr>
          <p:cNvPr id="15" name="形状5"/>
          <p:cNvSpPr/>
          <p:nvPr>
            <p:custDataLst>
              <p:tags r:id="rId13"/>
            </p:custDataLst>
          </p:nvPr>
        </p:nvSpPr>
        <p:spPr>
          <a:xfrm>
            <a:off x="8269137" y="2257522"/>
            <a:ext cx="1199211" cy="7872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60000"/>
                </a:schemeClr>
              </a:gs>
              <a:gs pos="100000">
                <a:schemeClr val="accent1"/>
              </a:gs>
            </a:gsLst>
            <a:lin ang="10800000" scaled="1"/>
            <a:tileRect/>
          </a:gra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 lang="en-US" altLang="zh-CN" sz="3200" b="1" dirty="0">
              <a:effectLst>
                <a:reflection blurRad="6350" stA="26000" endPos="60000" dist="30480" dir="5400000" sy="-100000" algn="bl" rotWithShape="0"/>
              </a:effectLst>
              <a:cs typeface="+mn-ea"/>
              <a:sym typeface="+mn-lt"/>
            </a:endParaRPr>
          </a:p>
        </p:txBody>
      </p:sp>
      <p:pic>
        <p:nvPicPr>
          <p:cNvPr id="16" name="内容占位符 15"/>
          <p:cNvPicPr>
            <a:picLocks noGrp="1" noChangeAspect="1"/>
          </p:cNvPicPr>
          <p:nvPr>
            <p:ph idx="1"/>
          </p:nvPr>
        </p:nvPicPr>
        <p:blipFill>
          <a:blip r:embed="rId14"/>
          <a:srcRect l="7928" r="11714"/>
          <a:stretch>
            <a:fillRect/>
          </a:stretch>
        </p:blipFill>
        <p:spPr>
          <a:xfrm>
            <a:off x="640715" y="2874645"/>
            <a:ext cx="3149600" cy="2748280"/>
          </a:xfrm>
          <a:prstGeom prst="rect">
            <a:avLst/>
          </a:prstGeom>
        </p:spPr>
      </p:pic>
      <p:pic>
        <p:nvPicPr>
          <p:cNvPr id="17" name="内容占位符 3"/>
          <p:cNvPicPr>
            <a:picLocks noGrp="1" noChangeAspect="1"/>
          </p:cNvPicPr>
          <p:nvPr/>
        </p:nvPicPr>
        <p:blipFill>
          <a:blip r:embed="rId15"/>
          <a:srcRect l="5483" r="9031"/>
          <a:stretch>
            <a:fillRect/>
          </a:stretch>
        </p:blipFill>
        <p:spPr>
          <a:xfrm>
            <a:off x="4479925" y="2877820"/>
            <a:ext cx="3359785" cy="2787015"/>
          </a:xfrm>
          <a:prstGeom prst="rect">
            <a:avLst/>
          </a:prstGeom>
        </p:spPr>
      </p:pic>
      <p:pic>
        <p:nvPicPr>
          <p:cNvPr id="19" name="内容占位符 3"/>
          <p:cNvPicPr>
            <a:picLocks noGrp="1" noChangeAspect="1"/>
          </p:cNvPicPr>
          <p:nvPr/>
        </p:nvPicPr>
        <p:blipFill>
          <a:blip r:embed="rId16"/>
          <a:srcRect l="6341" r="9282"/>
          <a:stretch>
            <a:fillRect/>
          </a:stretch>
        </p:blipFill>
        <p:spPr>
          <a:xfrm>
            <a:off x="8412480" y="2850515"/>
            <a:ext cx="3380740" cy="28035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Line 35"/>
          <p:cNvSpPr>
            <a:spLocks noChangeShapeType="1"/>
          </p:cNvSpPr>
          <p:nvPr/>
        </p:nvSpPr>
        <p:spPr bwMode="auto">
          <a:xfrm>
            <a:off x="1" y="893379"/>
            <a:ext cx="9165020" cy="0"/>
          </a:xfrm>
          <a:prstGeom prst="line">
            <a:avLst/>
          </a:prstGeom>
          <a:noFill/>
          <a:ln w="44450" cmpd="thickThin">
            <a:solidFill>
              <a:srgbClr val="0040C0"/>
            </a:solidFill>
            <a:round/>
          </a:ln>
        </p:spPr>
        <p:txBody>
          <a:bodyPr lIns="108820" tIns="54410" rIns="108820" bIns="54410"/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73743874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6995" y="166370"/>
            <a:ext cx="1692910" cy="6273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307340" y="266700"/>
            <a:ext cx="3877310" cy="626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CS-ST-L21D结构光</a:t>
            </a:r>
            <a:endParaRPr lang="zh-CN" altLang="en-US" sz="28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4748530" y="1154430"/>
          <a:ext cx="679386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295"/>
                <a:gridCol w="4687570"/>
              </a:tblGrid>
              <a:tr h="36576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产品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CS-ST-L21D结构光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</a:tr>
              <a:tr h="342265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相机与镜头型号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MV-CA020-10GM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（海康）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+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MVL-HF0824M-10MP  8mm镜头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（海康）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168275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光机与驱动板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M11B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（非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LC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）光机（安华）、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DLPC3479-DLPA3005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光源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蓝光（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450nm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）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239395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工作距离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1200mm-2500mm 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分辨率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1624*1240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供电电压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</a:rPr>
                        <a:t>/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典型功耗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DC 36V/60W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工作温度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0-45℃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采集时间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0.5-1.5s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</a:rPr>
                        <a:t>Z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向重复精度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0.1mm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通讯接口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RS485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通讯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尺寸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</a:rPr>
                        <a:t>/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重量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尺寸为 400x210x85mm/重 5407±10g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工控机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I5 12600KF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配套线缆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0" lvl="1" indent="0" algn="l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buClrTx/>
                        <a:buSzTx/>
                        <a:buNone/>
                      </a:pPr>
                      <a:r>
                        <a:rPr lang="en-US" altLang="zh-CN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M12-A-2</a:t>
                      </a:r>
                      <a:r>
                        <a:rPr lang="zh-CN" altLang="en-US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芯头针</a:t>
                      </a:r>
                      <a:r>
                        <a:rPr lang="en-US" altLang="zh-CN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 to 2C</a:t>
                      </a:r>
                      <a:r>
                        <a:rPr lang="zh-CN" altLang="en-US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电源（电源线）</a:t>
                      </a:r>
                      <a:r>
                        <a:rPr lang="en-US" altLang="zh-CN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*1</a:t>
                      </a:r>
                      <a:r>
                        <a:rPr lang="zh-CN" altLang="en-US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、</a:t>
                      </a:r>
                      <a:r>
                        <a:rPr lang="en-US" altLang="zh-CN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M12-A-4</a:t>
                      </a:r>
                      <a:r>
                        <a:rPr lang="zh-CN" altLang="en-US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芯头针</a:t>
                      </a:r>
                      <a:r>
                        <a:rPr lang="en-US" altLang="zh-CN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 to 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DB9  (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串口</a:t>
                      </a:r>
                      <a:r>
                        <a:rPr lang="zh-CN" altLang="en-US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线</a:t>
                      </a:r>
                      <a:r>
                        <a:rPr lang="en-US" altLang="zh-CN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)*1</a:t>
                      </a:r>
                      <a:r>
                        <a:rPr lang="zh-CN" altLang="en-US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、</a:t>
                      </a:r>
                      <a:r>
                        <a:rPr lang="en-US" altLang="zh-CN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M12-X-8</a:t>
                      </a:r>
                      <a:r>
                        <a:rPr lang="zh-CN" altLang="en-US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芯头针</a:t>
                      </a:r>
                      <a:r>
                        <a:rPr lang="en-US" altLang="zh-CN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 to RJ45(</a:t>
                      </a:r>
                      <a:r>
                        <a:rPr lang="zh-CN" altLang="en-US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网线</a:t>
                      </a:r>
                      <a:r>
                        <a:rPr lang="en-US" altLang="zh-CN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)*2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431800" y="1154430"/>
            <a:ext cx="4316730" cy="16370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lvl="1" indent="349250" algn="l" fontAlgn="auto">
              <a:lnSpc>
                <a:spcPct val="150000"/>
              </a:lnSpc>
              <a:buClrTx/>
              <a:buSzTx/>
              <a:buNone/>
            </a:pPr>
            <a:r>
              <a:rPr lang="en-US" altLang="zh-CN" baseline="30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该相机融合结构光技术和相机系统，用于获取并处理三维空间信息，在物流和智能制造领域可识别、追踪物品，助力自动化分拣、定位以及机器人操作引导。</a:t>
            </a:r>
            <a:endParaRPr lang="en-US" altLang="zh-CN" baseline="30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349250" algn="l" fontAlgn="auto">
              <a:lnSpc>
                <a:spcPct val="150000"/>
              </a:lnSpc>
              <a:buClrTx/>
              <a:buSzTx/>
              <a:buNone/>
            </a:pPr>
            <a:r>
              <a:rPr lang="en-US" altLang="zh-CN" baseline="30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系统构成包括一个3D相机、一个电源适配器，还有一条串口线、1米电源线以及两条网线 。</a:t>
            </a:r>
            <a:endParaRPr lang="en-US" altLang="zh-CN" baseline="30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457200" algn="l" fontAlgn="auto">
              <a:lnSpc>
                <a:spcPct val="150000"/>
              </a:lnSpc>
              <a:buClrTx/>
              <a:buSzTx/>
              <a:buNone/>
            </a:pPr>
            <a:endParaRPr lang="en-US" altLang="zh-CN" baseline="30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457200" algn="l" fontAlgn="auto">
              <a:lnSpc>
                <a:spcPct val="150000"/>
              </a:lnSpc>
              <a:buClrTx/>
              <a:buSzTx/>
              <a:buNone/>
            </a:pPr>
            <a:endParaRPr lang="en-US" altLang="zh-CN" baseline="30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457200" algn="l" fontAlgn="auto">
              <a:lnSpc>
                <a:spcPct val="150000"/>
              </a:lnSpc>
              <a:buClrTx/>
              <a:buSzTx/>
              <a:buNone/>
            </a:pPr>
            <a:endParaRPr lang="en-US" altLang="zh-CN" baseline="30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457200" algn="l" fontAlgn="auto">
              <a:lnSpc>
                <a:spcPct val="150000"/>
              </a:lnSpc>
              <a:buClrTx/>
              <a:buSzTx/>
              <a:buNone/>
            </a:pP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endParaRPr lang="zh-CN" altLang="en-US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31800" y="4286885"/>
            <a:ext cx="3975100" cy="2033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None/>
            </a:pPr>
            <a:r>
              <a:rPr lang="en-US" altLang="zh-CN" b="1" baseline="30000">
                <a:latin typeface="楷体" panose="02010609060101010101" charset="-122"/>
                <a:ea typeface="楷体" panose="02010609060101010101" charset="-122"/>
                <a:sym typeface="+mn-ea"/>
              </a:rPr>
              <a:t>产品特点：</a:t>
            </a:r>
            <a:endParaRPr lang="en-US" altLang="zh-CN" b="1" baseline="3000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marL="0" lvl="1" indent="-28575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l"/>
            </a:pPr>
            <a:r>
              <a:rPr lang="en-US" altLang="zh-CN" baseline="30000" dirty="0" err="1">
                <a:latin typeface="楷体" panose="02010609060101010101" charset="-122"/>
                <a:ea typeface="楷体" panose="02010609060101010101" charset="-122"/>
                <a:sym typeface="+mn-ea"/>
              </a:rPr>
              <a:t>正弦结构光方案成像快</a:t>
            </a:r>
            <a:r>
              <a:rPr lang="en-US" altLang="zh-CN" baseline="30000">
                <a:latin typeface="楷体" panose="02010609060101010101" charset="-122"/>
                <a:ea typeface="楷体" panose="02010609060101010101" charset="-122"/>
                <a:sym typeface="+mn-ea"/>
              </a:rPr>
              <a:t>；</a:t>
            </a:r>
            <a:endParaRPr lang="en-US" altLang="zh-CN" baseline="3000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marL="285750" indent="-28575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l"/>
            </a:pPr>
            <a:r>
              <a:rPr lang="en-US" altLang="zh-CN" baseline="30000" dirty="0" err="1">
                <a:latin typeface="楷体" panose="02010609060101010101" charset="-122"/>
                <a:ea typeface="楷体" panose="02010609060101010101" charset="-122"/>
                <a:sym typeface="+mn-ea"/>
              </a:rPr>
              <a:t>选用高级别抗冲击、防震硬件，稳定可靠</a:t>
            </a:r>
            <a:r>
              <a:rPr lang="en-US" altLang="zh-CN" baseline="30000">
                <a:latin typeface="楷体" panose="02010609060101010101" charset="-122"/>
                <a:ea typeface="楷体" panose="02010609060101010101" charset="-122"/>
                <a:sym typeface="+mn-ea"/>
              </a:rPr>
              <a:t>；</a:t>
            </a:r>
            <a:endParaRPr lang="en-US" altLang="zh-CN" baseline="3000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marL="285750" indent="-28575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l"/>
            </a:pPr>
            <a:r>
              <a:rPr lang="en-US" altLang="zh-CN" baseline="30000" dirty="0" err="1">
                <a:latin typeface="楷体" panose="02010609060101010101" charset="-122"/>
                <a:ea typeface="楷体" panose="02010609060101010101" charset="-122"/>
                <a:sym typeface="+mn-ea"/>
              </a:rPr>
              <a:t>固定或移动位置安装，抗干扰能力强</a:t>
            </a:r>
            <a:r>
              <a:rPr lang="en-US" altLang="zh-CN" baseline="30000">
                <a:latin typeface="楷体" panose="02010609060101010101" charset="-122"/>
                <a:ea typeface="楷体" panose="02010609060101010101" charset="-122"/>
                <a:sym typeface="+mn-ea"/>
              </a:rPr>
              <a:t>；</a:t>
            </a:r>
            <a:endParaRPr lang="en-US" altLang="zh-CN" baseline="3000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marL="285750" indent="-28575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l"/>
            </a:pPr>
            <a:r>
              <a:rPr lang="en-US" altLang="zh-CN" baseline="30000" dirty="0" err="1">
                <a:latin typeface="楷体" panose="02010609060101010101" charset="-122"/>
                <a:ea typeface="楷体" panose="02010609060101010101" charset="-122"/>
                <a:sym typeface="+mn-ea"/>
              </a:rPr>
              <a:t>适用于小视野的工作场景</a:t>
            </a:r>
            <a:r>
              <a:rPr lang="zh-CN" altLang="en-US" baseline="30000">
                <a:latin typeface="楷体" panose="02010609060101010101" charset="-122"/>
                <a:ea typeface="楷体" panose="02010609060101010101" charset="-122"/>
                <a:sym typeface="+mn-ea"/>
              </a:rPr>
              <a:t>；</a:t>
            </a:r>
            <a:endParaRPr lang="en-US" altLang="zh-CN" baseline="3000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marL="285750" indent="-28575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l"/>
            </a:pPr>
            <a:r>
              <a:rPr lang="en-US" altLang="zh-CN" baseline="30000" dirty="0" err="1">
                <a:latin typeface="楷体" panose="02010609060101010101" charset="-122"/>
                <a:ea typeface="楷体" panose="02010609060101010101" charset="-122"/>
                <a:sym typeface="+mn-ea"/>
              </a:rPr>
              <a:t>快速工件识别、快速定姿定位</a:t>
            </a:r>
            <a:r>
              <a:rPr lang="zh-CN" altLang="en-US" baseline="30000">
                <a:latin typeface="楷体" panose="02010609060101010101" charset="-122"/>
                <a:ea typeface="楷体" panose="02010609060101010101" charset="-122"/>
                <a:sym typeface="+mn-ea"/>
              </a:rPr>
              <a:t>；</a:t>
            </a:r>
            <a:endParaRPr lang="en-US" altLang="zh-CN" baseline="3000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marL="285750" indent="-28575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l"/>
            </a:pPr>
            <a:r>
              <a:rPr lang="en-US" altLang="zh-CN" baseline="30000" dirty="0" err="1">
                <a:latin typeface="楷体" panose="02010609060101010101" charset="-122"/>
                <a:ea typeface="楷体" panose="02010609060101010101" charset="-122"/>
                <a:sym typeface="+mn-ea"/>
              </a:rPr>
              <a:t>适用一定程度黑色、反光物体的识别定位</a:t>
            </a:r>
            <a:r>
              <a:rPr lang="zh-CN" altLang="en-US" baseline="30000">
                <a:latin typeface="楷体" panose="02010609060101010101" charset="-122"/>
                <a:ea typeface="楷体" panose="02010609060101010101" charset="-122"/>
                <a:sym typeface="+mn-ea"/>
              </a:rPr>
              <a:t>。</a:t>
            </a:r>
            <a:endParaRPr lang="en-US" altLang="zh-CN" baseline="30000">
              <a:latin typeface="楷体" panose="02010609060101010101" charset="-122"/>
              <a:ea typeface="楷体" panose="02010609060101010101" charset="-122"/>
            </a:endParaRPr>
          </a:p>
          <a:p>
            <a:endParaRPr lang="zh-CN" altLang="en-US"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415" y="2591435"/>
            <a:ext cx="3023870" cy="16954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Line 35"/>
          <p:cNvSpPr>
            <a:spLocks noChangeShapeType="1"/>
          </p:cNvSpPr>
          <p:nvPr/>
        </p:nvSpPr>
        <p:spPr bwMode="auto">
          <a:xfrm>
            <a:off x="1" y="893379"/>
            <a:ext cx="9165020" cy="0"/>
          </a:xfrm>
          <a:prstGeom prst="line">
            <a:avLst/>
          </a:prstGeom>
          <a:noFill/>
          <a:ln w="44450" cmpd="thickThin">
            <a:solidFill>
              <a:srgbClr val="0040C0"/>
            </a:solidFill>
            <a:round/>
          </a:ln>
        </p:spPr>
        <p:txBody>
          <a:bodyPr lIns="108820" tIns="54410" rIns="108820" bIns="54410"/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73743874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6995" y="166370"/>
            <a:ext cx="1692910" cy="6273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307340" y="266700"/>
            <a:ext cx="6198235" cy="527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CS-ST-L21D结构光-视野图</a:t>
            </a:r>
            <a:endParaRPr lang="zh-CN" altLang="en-US" sz="28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5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rcRect r="2412"/>
          <a:stretch>
            <a:fillRect/>
          </a:stretch>
        </p:blipFill>
        <p:spPr>
          <a:xfrm>
            <a:off x="2433955" y="1315085"/>
            <a:ext cx="6731000" cy="48710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Line 35"/>
          <p:cNvSpPr>
            <a:spLocks noChangeShapeType="1"/>
          </p:cNvSpPr>
          <p:nvPr/>
        </p:nvSpPr>
        <p:spPr bwMode="auto">
          <a:xfrm>
            <a:off x="1" y="893379"/>
            <a:ext cx="9165020" cy="0"/>
          </a:xfrm>
          <a:prstGeom prst="line">
            <a:avLst/>
          </a:prstGeom>
          <a:noFill/>
          <a:ln w="44450" cmpd="thickThin">
            <a:solidFill>
              <a:srgbClr val="0040C0"/>
            </a:solidFill>
            <a:round/>
          </a:ln>
        </p:spPr>
        <p:txBody>
          <a:bodyPr lIns="108820" tIns="54410" rIns="108820" bIns="54410"/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73743874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6995" y="166370"/>
            <a:ext cx="1692910" cy="6273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307340" y="266700"/>
            <a:ext cx="3877310" cy="626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CS-ST-L21B结构光</a:t>
            </a:r>
            <a:endParaRPr lang="zh-CN" altLang="en-US" sz="28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4748530" y="1121410"/>
          <a:ext cx="679386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295"/>
                <a:gridCol w="4687570"/>
              </a:tblGrid>
              <a:tr h="36576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产品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</a:rPr>
                        <a:t>CS-ST-S21B 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结构光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</a:tr>
              <a:tr h="342265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相机与镜头型号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MV-CA020-10GM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（海康）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+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MVL-HF0824M-10MP 12mm镜头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（海康）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168275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光机与驱动板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M16B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（非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LC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）光机（安华）、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DLPC3479-DLPA3005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光源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蓝光（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450nm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）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239395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工作距离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1300mm-4000mm 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分辨率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1624*1240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供电电压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</a:rPr>
                        <a:t>/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典型功耗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DC 36V/60W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工作温度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0-45℃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采集时间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0.5-1.5s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</a:rPr>
                        <a:t>Z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向重复精度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0.1mm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通讯接口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RS485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通讯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尺寸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</a:rPr>
                        <a:t>/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重量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尺寸为 400x210x79mm/重 5500±10g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工控机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I5 12600KF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配套线缆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0" lvl="1" indent="0" algn="l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buClrTx/>
                        <a:buSzTx/>
                        <a:buNone/>
                      </a:pPr>
                      <a:r>
                        <a:rPr lang="en-US" altLang="zh-CN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M12-A-2</a:t>
                      </a:r>
                      <a:r>
                        <a:rPr lang="zh-CN" altLang="en-US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芯头针</a:t>
                      </a:r>
                      <a:r>
                        <a:rPr lang="en-US" altLang="zh-CN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 to 2C</a:t>
                      </a:r>
                      <a:r>
                        <a:rPr lang="zh-CN" altLang="en-US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电源（电源线）</a:t>
                      </a:r>
                      <a:r>
                        <a:rPr lang="en-US" altLang="zh-CN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*1</a:t>
                      </a:r>
                      <a:r>
                        <a:rPr lang="zh-CN" altLang="en-US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、</a:t>
                      </a:r>
                      <a:r>
                        <a:rPr lang="en-US" altLang="zh-CN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M12-A-4</a:t>
                      </a:r>
                      <a:r>
                        <a:rPr lang="zh-CN" altLang="en-US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芯头针</a:t>
                      </a:r>
                      <a:r>
                        <a:rPr lang="en-US" altLang="zh-CN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 to 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DB9  (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串口</a:t>
                      </a:r>
                      <a:r>
                        <a:rPr lang="zh-CN" altLang="en-US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线</a:t>
                      </a:r>
                      <a:r>
                        <a:rPr lang="en-US" altLang="zh-CN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)*1</a:t>
                      </a:r>
                      <a:r>
                        <a:rPr lang="zh-CN" altLang="en-US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、</a:t>
                      </a:r>
                      <a:r>
                        <a:rPr lang="en-US" altLang="zh-CN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M12-X-8</a:t>
                      </a:r>
                      <a:r>
                        <a:rPr lang="zh-CN" altLang="en-US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芯头针</a:t>
                      </a:r>
                      <a:r>
                        <a:rPr lang="en-US" altLang="zh-CN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 to RJ45(</a:t>
                      </a:r>
                      <a:r>
                        <a:rPr lang="zh-CN" altLang="en-US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网线</a:t>
                      </a:r>
                      <a:r>
                        <a:rPr lang="en-US" altLang="zh-CN" sz="1200" dirty="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)*2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431800" y="1154430"/>
            <a:ext cx="4316730" cy="14928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lvl="1" indent="349250" algn="l" fontAlgn="auto">
              <a:lnSpc>
                <a:spcPct val="150000"/>
              </a:lnSpc>
              <a:buClrTx/>
              <a:buSzTx/>
              <a:buNone/>
            </a:pPr>
            <a:r>
              <a:rPr lang="en-US" altLang="zh-CN" baseline="30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该相机通过结合结构光技术与相机系统，能够捕获并处理三维空间信息，在物流及智能制造场景中，可实现对物品的识别与追踪，用于自动化分拣、定位以及引导机器人操作。</a:t>
            </a:r>
            <a:endParaRPr lang="en-US" altLang="zh-CN" baseline="300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marL="0" lvl="1" indent="457200" algn="l" fontAlgn="auto">
              <a:lnSpc>
                <a:spcPct val="150000"/>
              </a:lnSpc>
              <a:buClrTx/>
              <a:buSzTx/>
              <a:buNone/>
            </a:pPr>
            <a:r>
              <a:rPr lang="en-US" altLang="zh-CN" baseline="30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系统组成包含一个3D相机、一个电源适配器，以及一条串口线、1米电源线和两条网线。  </a:t>
            </a:r>
            <a:endParaRPr lang="en-US" altLang="zh-CN" baseline="30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457200" algn="l" fontAlgn="auto">
              <a:lnSpc>
                <a:spcPct val="150000"/>
              </a:lnSpc>
              <a:buClrTx/>
              <a:buSzTx/>
              <a:buNone/>
            </a:pPr>
            <a:endParaRPr lang="en-US" altLang="zh-CN" baseline="30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457200" algn="l" fontAlgn="auto">
              <a:lnSpc>
                <a:spcPct val="150000"/>
              </a:lnSpc>
              <a:buClrTx/>
              <a:buSzTx/>
              <a:buNone/>
            </a:pPr>
            <a:endParaRPr lang="en-US" altLang="zh-CN" baseline="30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457200" algn="l" fontAlgn="auto">
              <a:lnSpc>
                <a:spcPct val="150000"/>
              </a:lnSpc>
              <a:buClrTx/>
              <a:buSzTx/>
              <a:buNone/>
            </a:pPr>
            <a:endParaRPr lang="en-US" altLang="zh-CN" baseline="30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457200" algn="l" fontAlgn="auto">
              <a:lnSpc>
                <a:spcPct val="150000"/>
              </a:lnSpc>
              <a:buClrTx/>
              <a:buSzTx/>
              <a:buNone/>
            </a:pP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endParaRPr lang="zh-CN" altLang="en-US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31800" y="4286885"/>
            <a:ext cx="3975100" cy="2033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None/>
            </a:pPr>
            <a:r>
              <a:rPr lang="en-US" altLang="zh-CN" b="1" baseline="30000">
                <a:latin typeface="楷体" panose="02010609060101010101" charset="-122"/>
                <a:ea typeface="楷体" panose="02010609060101010101" charset="-122"/>
                <a:sym typeface="+mn-ea"/>
              </a:rPr>
              <a:t>产品特点：</a:t>
            </a:r>
            <a:endParaRPr lang="en-US" altLang="zh-CN" b="1" baseline="3000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marL="0" lvl="1" indent="-28575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l"/>
            </a:pPr>
            <a:r>
              <a:rPr lang="en-US" altLang="zh-CN" baseline="30000" dirty="0" err="1">
                <a:latin typeface="楷体" panose="02010609060101010101" charset="-122"/>
                <a:ea typeface="楷体" panose="02010609060101010101" charset="-122"/>
                <a:sym typeface="+mn-ea"/>
              </a:rPr>
              <a:t>正弦结构光方案成像快</a:t>
            </a:r>
            <a:r>
              <a:rPr lang="en-US" altLang="zh-CN" baseline="30000">
                <a:latin typeface="楷体" panose="02010609060101010101" charset="-122"/>
                <a:ea typeface="楷体" panose="02010609060101010101" charset="-122"/>
                <a:sym typeface="+mn-ea"/>
              </a:rPr>
              <a:t>；</a:t>
            </a:r>
            <a:endParaRPr lang="en-US" altLang="zh-CN" baseline="3000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marL="285750" indent="-28575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l"/>
            </a:pPr>
            <a:r>
              <a:rPr lang="en-US" altLang="zh-CN" baseline="30000" dirty="0" err="1">
                <a:latin typeface="楷体" panose="02010609060101010101" charset="-122"/>
                <a:ea typeface="楷体" panose="02010609060101010101" charset="-122"/>
                <a:sym typeface="+mn-ea"/>
              </a:rPr>
              <a:t>选用高级别抗冲击、防震硬件，稳定可靠</a:t>
            </a:r>
            <a:r>
              <a:rPr lang="en-US" altLang="zh-CN" baseline="30000">
                <a:latin typeface="楷体" panose="02010609060101010101" charset="-122"/>
                <a:ea typeface="楷体" panose="02010609060101010101" charset="-122"/>
                <a:sym typeface="+mn-ea"/>
              </a:rPr>
              <a:t>；</a:t>
            </a:r>
            <a:endParaRPr lang="en-US" altLang="zh-CN" baseline="3000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marL="285750" indent="-28575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l"/>
            </a:pPr>
            <a:r>
              <a:rPr lang="en-US" altLang="zh-CN" baseline="30000" dirty="0" err="1">
                <a:latin typeface="楷体" panose="02010609060101010101" charset="-122"/>
                <a:ea typeface="楷体" panose="02010609060101010101" charset="-122"/>
                <a:sym typeface="+mn-ea"/>
              </a:rPr>
              <a:t>固定或移动位置安装，抗干扰能力强</a:t>
            </a:r>
            <a:r>
              <a:rPr lang="en-US" altLang="zh-CN" baseline="30000">
                <a:latin typeface="楷体" panose="02010609060101010101" charset="-122"/>
                <a:ea typeface="楷体" panose="02010609060101010101" charset="-122"/>
                <a:sym typeface="+mn-ea"/>
              </a:rPr>
              <a:t>；</a:t>
            </a:r>
            <a:endParaRPr lang="en-US" altLang="zh-CN" baseline="3000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marL="285750" indent="-28575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l"/>
            </a:pPr>
            <a:r>
              <a:rPr lang="en-US" altLang="zh-CN" baseline="30000" dirty="0" err="1">
                <a:latin typeface="楷体" panose="02010609060101010101" charset="-122"/>
                <a:ea typeface="楷体" panose="02010609060101010101" charset="-122"/>
                <a:sym typeface="+mn-ea"/>
              </a:rPr>
              <a:t>适用于小视野的工作场景</a:t>
            </a:r>
            <a:r>
              <a:rPr lang="zh-CN" altLang="en-US" baseline="30000">
                <a:latin typeface="楷体" panose="02010609060101010101" charset="-122"/>
                <a:ea typeface="楷体" panose="02010609060101010101" charset="-122"/>
                <a:sym typeface="+mn-ea"/>
              </a:rPr>
              <a:t>；</a:t>
            </a:r>
            <a:endParaRPr lang="en-US" altLang="zh-CN" baseline="3000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marL="285750" indent="-28575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l"/>
            </a:pPr>
            <a:r>
              <a:rPr lang="en-US" altLang="zh-CN" baseline="30000" dirty="0" err="1">
                <a:latin typeface="楷体" panose="02010609060101010101" charset="-122"/>
                <a:ea typeface="楷体" panose="02010609060101010101" charset="-122"/>
                <a:sym typeface="+mn-ea"/>
              </a:rPr>
              <a:t>快速工件识别、快速定姿定位</a:t>
            </a:r>
            <a:r>
              <a:rPr lang="zh-CN" altLang="en-US" baseline="30000">
                <a:latin typeface="楷体" panose="02010609060101010101" charset="-122"/>
                <a:ea typeface="楷体" panose="02010609060101010101" charset="-122"/>
                <a:sym typeface="+mn-ea"/>
              </a:rPr>
              <a:t>；</a:t>
            </a:r>
            <a:endParaRPr lang="en-US" altLang="zh-CN" baseline="3000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marL="285750" indent="-28575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l"/>
            </a:pPr>
            <a:r>
              <a:rPr lang="en-US" altLang="zh-CN" baseline="30000" dirty="0" err="1">
                <a:latin typeface="楷体" panose="02010609060101010101" charset="-122"/>
                <a:ea typeface="楷体" panose="02010609060101010101" charset="-122"/>
                <a:sym typeface="+mn-ea"/>
              </a:rPr>
              <a:t>适用一定程度黑色、反光物体的识别定位</a:t>
            </a:r>
            <a:r>
              <a:rPr lang="zh-CN" altLang="en-US" baseline="30000">
                <a:latin typeface="楷体" panose="02010609060101010101" charset="-122"/>
                <a:ea typeface="楷体" panose="02010609060101010101" charset="-122"/>
                <a:sym typeface="+mn-ea"/>
              </a:rPr>
              <a:t>。</a:t>
            </a:r>
            <a:endParaRPr lang="en-US" altLang="zh-CN" baseline="30000">
              <a:latin typeface="楷体" panose="02010609060101010101" charset="-122"/>
              <a:ea typeface="楷体" panose="02010609060101010101" charset="-122"/>
            </a:endParaRPr>
          </a:p>
          <a:p>
            <a:endParaRPr lang="zh-CN" altLang="en-US"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415" y="2591435"/>
            <a:ext cx="3023870" cy="16954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Line 35"/>
          <p:cNvSpPr>
            <a:spLocks noChangeShapeType="1"/>
          </p:cNvSpPr>
          <p:nvPr/>
        </p:nvSpPr>
        <p:spPr bwMode="auto">
          <a:xfrm>
            <a:off x="1" y="893379"/>
            <a:ext cx="9165020" cy="0"/>
          </a:xfrm>
          <a:prstGeom prst="line">
            <a:avLst/>
          </a:prstGeom>
          <a:noFill/>
          <a:ln w="44450" cmpd="thickThin">
            <a:solidFill>
              <a:srgbClr val="0040C0"/>
            </a:solidFill>
            <a:round/>
          </a:ln>
        </p:spPr>
        <p:txBody>
          <a:bodyPr lIns="108820" tIns="54410" rIns="108820" bIns="54410"/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73743874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6995" y="166370"/>
            <a:ext cx="1692910" cy="6273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307340" y="266700"/>
            <a:ext cx="6198235" cy="527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CS-ST-L21B结构光-视野图</a:t>
            </a:r>
            <a:endParaRPr lang="zh-CN" altLang="en-US" sz="28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4885" y="1166495"/>
            <a:ext cx="7285355" cy="51396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Line 35"/>
          <p:cNvSpPr>
            <a:spLocks noChangeShapeType="1"/>
          </p:cNvSpPr>
          <p:nvPr/>
        </p:nvSpPr>
        <p:spPr bwMode="auto">
          <a:xfrm>
            <a:off x="1" y="893379"/>
            <a:ext cx="9165020" cy="0"/>
          </a:xfrm>
          <a:prstGeom prst="line">
            <a:avLst/>
          </a:prstGeom>
          <a:noFill/>
          <a:ln w="44450" cmpd="thickThin">
            <a:solidFill>
              <a:srgbClr val="0040C0"/>
            </a:solidFill>
            <a:round/>
          </a:ln>
        </p:spPr>
        <p:txBody>
          <a:bodyPr lIns="108820" tIns="54410" rIns="108820" bIns="54410"/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73743874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6995" y="166370"/>
            <a:ext cx="1692910" cy="6273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307340" y="266700"/>
            <a:ext cx="5701665" cy="526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CS-DST-S21-Pro-S嵌入式结构光</a:t>
            </a:r>
            <a:endParaRPr lang="zh-CN" altLang="en-US" sz="28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4748530" y="1145540"/>
          <a:ext cx="7120255" cy="5152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3900"/>
                <a:gridCol w="5126355"/>
              </a:tblGrid>
              <a:tr h="36830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产品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CS-DST-S21-Pro-S嵌入式结构光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</a:tr>
              <a:tr h="36830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相机与镜头型号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VEN-301-125U3M-FPC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（大恒）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+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M0840-K 8mm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镜头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（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computar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）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36830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光机与驱动板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M6SGD(DLP3010LC)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（安华）、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DLPC3478-DLPA3005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36830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光源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蓝光（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450nm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）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367665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工作距离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700mm-1200mm 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36830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分辨率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2048*1536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36830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供电电压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</a:rPr>
                        <a:t>/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典型功耗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DC 36V/55W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367665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工作温度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0-45℃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36830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采集时间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0.6-1.2s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36830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</a:rPr>
                        <a:t>Z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向重复精度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0.1mm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36830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通讯接口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千兆以太网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36830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尺寸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</a:rPr>
                        <a:t>/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重量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尺寸为 225x100x53mm/重 1115±10g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36703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工控机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I5 12600KF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36703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配套线缆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0" lvl="1" indent="0" algn="ctr" fontAlgn="auto">
                        <a:lnSpc>
                          <a:spcPct val="150000"/>
                        </a:lnSpc>
                        <a:spcBef>
                          <a:spcPts val="0"/>
                        </a:spcBef>
                        <a:buClrTx/>
                        <a:buSzTx/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M12-A-8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芯头针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 to 2C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电源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*1 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、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M12-X-8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芯头针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 to RJ45(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网线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)*1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431800" y="1154430"/>
            <a:ext cx="4316730" cy="14928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lvl="1" indent="349250" algn="l" fontAlgn="auto">
              <a:lnSpc>
                <a:spcPct val="150000"/>
              </a:lnSpc>
              <a:buClrTx/>
              <a:buSzTx/>
              <a:buNone/>
            </a:pPr>
            <a:r>
              <a:rPr lang="en-US" altLang="zh-CN" baseline="30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该相机专为获取高分辨率 3D 点云设计，采用面阵扫描技术，具备高动态采集功能，可在高对比度环境中采集 3D 点云，且抗震和温度适应性强，适用于严苛工业环境。</a:t>
            </a:r>
            <a:endParaRPr lang="en-US" altLang="zh-CN" baseline="30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lvl="1" indent="349250" algn="l" fontAlgn="auto">
              <a:lnSpc>
                <a:spcPct val="150000"/>
              </a:lnSpc>
              <a:buClrTx/>
              <a:buSzTx/>
              <a:buNone/>
            </a:pPr>
            <a:r>
              <a:rPr lang="en-US" altLang="zh-CN" baseline="30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系统组成包含一个 3D 相机、一个电源适配器、1 米长的电源线和网线各一条</a:t>
            </a:r>
            <a:r>
              <a:rPr lang="zh-CN" altLang="en-US" baseline="30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。</a:t>
            </a:r>
            <a:r>
              <a:rPr lang="en-US" altLang="zh-CN" baseline="30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</a:t>
            </a:r>
            <a:endParaRPr lang="en-US" altLang="zh-CN" baseline="30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457200" algn="l" fontAlgn="auto">
              <a:lnSpc>
                <a:spcPct val="150000"/>
              </a:lnSpc>
              <a:buClrTx/>
              <a:buSzTx/>
              <a:buNone/>
            </a:pPr>
            <a:endParaRPr lang="en-US" altLang="zh-CN" baseline="30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457200" algn="l" fontAlgn="auto">
              <a:lnSpc>
                <a:spcPct val="150000"/>
              </a:lnSpc>
              <a:buClrTx/>
              <a:buSzTx/>
              <a:buNone/>
            </a:pPr>
            <a:endParaRPr lang="en-US" altLang="zh-CN" baseline="30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457200" algn="l" fontAlgn="auto">
              <a:lnSpc>
                <a:spcPct val="150000"/>
              </a:lnSpc>
              <a:buClrTx/>
              <a:buSzTx/>
              <a:buNone/>
            </a:pPr>
            <a:endParaRPr lang="en-US" altLang="zh-CN" baseline="30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457200" algn="l" fontAlgn="auto">
              <a:lnSpc>
                <a:spcPct val="150000"/>
              </a:lnSpc>
              <a:buClrTx/>
              <a:buSzTx/>
              <a:buNone/>
            </a:pP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endParaRPr lang="zh-CN" altLang="en-US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31800" y="4286885"/>
            <a:ext cx="3975100" cy="2033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None/>
            </a:pPr>
            <a:r>
              <a:rPr lang="en-US" altLang="zh-CN" b="1" baseline="30000">
                <a:latin typeface="楷体" panose="02010609060101010101" charset="-122"/>
                <a:ea typeface="楷体" panose="02010609060101010101" charset="-122"/>
                <a:sym typeface="+mn-ea"/>
              </a:rPr>
              <a:t>产品特点：</a:t>
            </a:r>
            <a:endParaRPr lang="en-US" altLang="zh-CN" b="1" baseline="3000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marL="0" lvl="1" indent="-28575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l"/>
            </a:pPr>
            <a:r>
              <a:rPr lang="en-US" altLang="zh-CN" baseline="30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采用新的结构光算法可快速采集3D图像</a:t>
            </a:r>
            <a:r>
              <a:rPr lang="zh-CN" altLang="en-US" baseline="30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；</a:t>
            </a:r>
            <a:endParaRPr lang="en-US" altLang="zh-CN" baseline="300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marL="0" lvl="1" indent="-28575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l"/>
            </a:pPr>
            <a:r>
              <a:rPr lang="en-US" altLang="zh-CN" baseline="30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高精度3D数据点,可检测元件上的细微特征</a:t>
            </a:r>
            <a:r>
              <a:rPr lang="en-US" altLang="zh-CN" baseline="30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；</a:t>
            </a:r>
            <a:endParaRPr lang="en-US" altLang="zh-CN" baseline="300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marL="0" lvl="1" indent="-28575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l"/>
            </a:pPr>
            <a:r>
              <a:rPr lang="en-US" altLang="zh-CN" baseline="30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高动态曝光(HDR)模式可采集工况复杂场景下的工件</a:t>
            </a:r>
            <a:r>
              <a:rPr lang="en-US" altLang="zh-CN" baseline="30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；</a:t>
            </a:r>
            <a:endParaRPr lang="en-US" altLang="zh-CN" baseline="3000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marL="0" lvl="1" indent="-28575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l"/>
            </a:pPr>
            <a:r>
              <a:rPr lang="en-US" altLang="zh-CN" baseline="30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坚固耐用的IP65防护级外壳可在恶劣的工厂环境下提供保护</a:t>
            </a:r>
            <a:r>
              <a:rPr lang="zh-CN" altLang="en-US" baseline="30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；</a:t>
            </a: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l="6141" t="18503" b="9531"/>
          <a:stretch>
            <a:fillRect/>
          </a:stretch>
        </p:blipFill>
        <p:spPr>
          <a:xfrm>
            <a:off x="1195705" y="2569210"/>
            <a:ext cx="2788285" cy="14566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Line 35"/>
          <p:cNvSpPr>
            <a:spLocks noChangeShapeType="1"/>
          </p:cNvSpPr>
          <p:nvPr/>
        </p:nvSpPr>
        <p:spPr bwMode="auto">
          <a:xfrm>
            <a:off x="1" y="893379"/>
            <a:ext cx="9165020" cy="0"/>
          </a:xfrm>
          <a:prstGeom prst="line">
            <a:avLst/>
          </a:prstGeom>
          <a:noFill/>
          <a:ln w="44450" cmpd="thickThin">
            <a:solidFill>
              <a:srgbClr val="0040C0"/>
            </a:solidFill>
            <a:round/>
          </a:ln>
        </p:spPr>
        <p:txBody>
          <a:bodyPr lIns="108820" tIns="54410" rIns="108820" bIns="54410"/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73743874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6995" y="166370"/>
            <a:ext cx="1692910" cy="6273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307340" y="266700"/>
            <a:ext cx="6198235" cy="527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CS-DST-S21Pro-S-视野图</a:t>
            </a:r>
            <a:endParaRPr lang="zh-CN" altLang="en-US" sz="28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rcRect l="1395" t="1803" r="1621" b="2135"/>
          <a:stretch>
            <a:fillRect/>
          </a:stretch>
        </p:blipFill>
        <p:spPr>
          <a:xfrm>
            <a:off x="2181860" y="1160145"/>
            <a:ext cx="7370445" cy="51422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Line 35"/>
          <p:cNvSpPr>
            <a:spLocks noChangeShapeType="1"/>
          </p:cNvSpPr>
          <p:nvPr/>
        </p:nvSpPr>
        <p:spPr bwMode="auto">
          <a:xfrm>
            <a:off x="1" y="893379"/>
            <a:ext cx="9165020" cy="0"/>
          </a:xfrm>
          <a:prstGeom prst="line">
            <a:avLst/>
          </a:prstGeom>
          <a:noFill/>
          <a:ln w="44450" cmpd="thickThin">
            <a:solidFill>
              <a:srgbClr val="0040C0"/>
            </a:solidFill>
            <a:round/>
          </a:ln>
        </p:spPr>
        <p:txBody>
          <a:bodyPr lIns="108820" tIns="54410" rIns="108820" bIns="54410"/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73743874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6995" y="166370"/>
            <a:ext cx="1692910" cy="6273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307340" y="266700"/>
            <a:ext cx="3877310" cy="626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>
                <a:sym typeface="+mn-ea"/>
              </a:rPr>
              <a:t>CS-DT-031涂胶检测相机</a:t>
            </a:r>
            <a:endParaRPr lang="zh-CN" altLang="en-US" sz="28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4748530" y="1056640"/>
          <a:ext cx="6793865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295"/>
                <a:gridCol w="4687570"/>
              </a:tblGrid>
              <a:tr h="36576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产品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sym typeface="+mn-ea"/>
                        </a:rPr>
                        <a:t>CS-DT-031涂胶检测相机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</a:tr>
              <a:tr h="342265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相机与镜头型号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MV-CB016-10GM-S-W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（海康）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+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ST-6201-3A15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（世大）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光源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RGBW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（红绿蓝白）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239395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工作距离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80mm/150mm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分辨率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1440*1080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供电电压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</a:rPr>
                        <a:t>/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典型功耗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DC 24V/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红色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:26W,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绿色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:33W,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蓝色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:36W,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白色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:29W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工作温度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0-45℃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检测精度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近端视场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 &lt; 0.2mm, 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远端视场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 &lt; 0.37mm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检测覆盖率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高对比度场景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 &gt; 99%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，普通场景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 &gt; 80%(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需要胶枪涂胶角度配合调整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)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通讯接口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千兆以太网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触发模式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软件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+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外部硬触发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尺寸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</a:rPr>
                        <a:t>/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重量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尺寸为 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Φ150*58mm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/重 5500±10g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工控机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I7 9700</a:t>
                      </a:r>
                      <a:endParaRPr lang="en-US" altLang="zh-CN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  <a:tr h="0"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</a:rPr>
                        <a:t>配套线缆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M12-A-8芯头针 to DB9/广濑6芯插座针/电源头孔*1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、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 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M12-X-8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芯头针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 to RJ45(</a:t>
                      </a:r>
                      <a:r>
                        <a:rPr lang="zh-CN" altLang="en-US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网线</a:t>
                      </a:r>
                      <a:r>
                        <a:rPr lang="en-US" altLang="zh-CN" sz="1200">
                          <a:latin typeface="楷体" panose="02010609060101010101" charset="-122"/>
                          <a:ea typeface="楷体" panose="02010609060101010101" charset="-122"/>
                          <a:cs typeface="楷体" panose="02010609060101010101" charset="-122"/>
                          <a:sym typeface="+mn-ea"/>
                        </a:rPr>
                        <a:t>)*3</a:t>
                      </a:r>
                      <a:endParaRPr lang="zh-CN" altLang="en-US" sz="1200">
                        <a:latin typeface="楷体" panose="02010609060101010101" charset="-122"/>
                        <a:ea typeface="楷体" panose="02010609060101010101" charset="-122"/>
                        <a:cs typeface="楷体" panose="02010609060101010101" charset="-122"/>
                        <a:sym typeface="+mn-ea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431800" y="1154430"/>
            <a:ext cx="4316730" cy="14928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lvl="1" indent="349250" algn="l" fontAlgn="auto">
              <a:lnSpc>
                <a:spcPct val="150000"/>
              </a:lnSpc>
              <a:buClrTx/>
              <a:buSzTx/>
              <a:buNone/>
            </a:pPr>
            <a:r>
              <a:rPr lang="en-US" altLang="zh-CN" baseline="30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该相机用于在产品粘合过程中精确检测涂胶情况，确保胶涂抹的量、位置和均匀度符合标准。</a:t>
            </a:r>
            <a:endParaRPr lang="en-US" altLang="zh-CN" baseline="30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lvl="1" indent="349250" algn="l" fontAlgn="auto">
              <a:lnSpc>
                <a:spcPct val="150000"/>
              </a:lnSpc>
              <a:buClrTx/>
              <a:buSzTx/>
              <a:buNone/>
            </a:pPr>
            <a:r>
              <a:rPr lang="en-US" altLang="zh-CN" baseline="30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系统组成包含一个 3D 相机、一个电源适配器、一条电源线和三条网线 ，并通过了 CE、FCC 认证</a:t>
            </a:r>
            <a:r>
              <a:rPr lang="zh-CN" altLang="en-US" baseline="30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及</a:t>
            </a:r>
            <a:r>
              <a:rPr lang="en-US" altLang="zh-CN" baseline="30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IP65。</a:t>
            </a:r>
            <a:r>
              <a:rPr lang="en-US" altLang="zh-CN" baseline="30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</a:t>
            </a:r>
            <a:endParaRPr lang="en-US" altLang="zh-CN" baseline="30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457200" algn="l" fontAlgn="auto">
              <a:lnSpc>
                <a:spcPct val="150000"/>
              </a:lnSpc>
              <a:buClrTx/>
              <a:buSzTx/>
              <a:buNone/>
            </a:pPr>
            <a:endParaRPr lang="en-US" altLang="zh-CN" baseline="30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457200" algn="l" fontAlgn="auto">
              <a:lnSpc>
                <a:spcPct val="150000"/>
              </a:lnSpc>
              <a:buClrTx/>
              <a:buSzTx/>
              <a:buNone/>
            </a:pPr>
            <a:endParaRPr lang="en-US" altLang="zh-CN" baseline="30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457200" algn="l" fontAlgn="auto">
              <a:lnSpc>
                <a:spcPct val="150000"/>
              </a:lnSpc>
              <a:buClrTx/>
              <a:buSzTx/>
              <a:buNone/>
            </a:pPr>
            <a:endParaRPr lang="en-US" altLang="zh-CN" baseline="300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457200" algn="l" fontAlgn="auto">
              <a:lnSpc>
                <a:spcPct val="150000"/>
              </a:lnSpc>
              <a:buClrTx/>
              <a:buSzTx/>
              <a:buNone/>
            </a:pPr>
            <a:endParaRPr lang="zh-CN" altLang="en-US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endParaRPr lang="zh-CN" altLang="en-US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31800" y="4178935"/>
            <a:ext cx="3975100" cy="2366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None/>
            </a:pPr>
            <a:r>
              <a:rPr lang="en-US" altLang="zh-CN" b="1" baseline="30000">
                <a:latin typeface="楷体" panose="02010609060101010101" charset="-122"/>
                <a:ea typeface="楷体" panose="02010609060101010101" charset="-122"/>
                <a:sym typeface="+mn-ea"/>
              </a:rPr>
              <a:t>产品特点：</a:t>
            </a:r>
            <a:endParaRPr lang="en-US" altLang="zh-CN" b="1" baseline="3000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marL="0" lvl="1" indent="-28575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l"/>
            </a:pPr>
            <a:r>
              <a:rPr lang="zh-CN" altLang="en-US" baseline="30000">
                <a:latin typeface="楷体" panose="02010609060101010101" charset="-122"/>
                <a:ea typeface="楷体" panose="02010609060101010101" charset="-122"/>
                <a:sym typeface="+mn-ea"/>
              </a:rPr>
              <a:t>支持实时涂胶检测，检测速度最高可达</a:t>
            </a:r>
            <a:r>
              <a:rPr lang="en-US" altLang="zh-CN" baseline="30000">
                <a:latin typeface="楷体" panose="02010609060101010101" charset="-122"/>
                <a:ea typeface="楷体" panose="02010609060101010101" charset="-122"/>
                <a:sym typeface="+mn-ea"/>
              </a:rPr>
              <a:t> 1500mm/s</a:t>
            </a:r>
            <a:r>
              <a:rPr lang="zh-CN" altLang="en-US" baseline="30000">
                <a:latin typeface="楷体" panose="02010609060101010101" charset="-122"/>
                <a:ea typeface="楷体" panose="02010609060101010101" charset="-122"/>
                <a:sym typeface="+mn-ea"/>
              </a:rPr>
              <a:t>，高</a:t>
            </a:r>
            <a:r>
              <a:rPr lang="en-US" altLang="zh-CN" baseline="30000">
                <a:latin typeface="楷体" panose="02010609060101010101" charset="-122"/>
                <a:ea typeface="楷体" panose="02010609060101010101" charset="-122"/>
                <a:sym typeface="+mn-ea"/>
              </a:rPr>
              <a:t>  </a:t>
            </a:r>
            <a:endParaRPr lang="en-US" altLang="zh-CN" baseline="3000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marL="0" lvl="1" indent="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None/>
            </a:pPr>
            <a:r>
              <a:rPr lang="en-US" altLang="zh-CN" baseline="30000">
                <a:latin typeface="楷体" panose="02010609060101010101" charset="-122"/>
                <a:ea typeface="楷体" panose="02010609060101010101" charset="-122"/>
                <a:sym typeface="+mn-ea"/>
              </a:rPr>
              <a:t>    </a:t>
            </a:r>
            <a:r>
              <a:rPr lang="zh-CN" altLang="en-US" baseline="30000">
                <a:latin typeface="楷体" panose="02010609060101010101" charset="-122"/>
                <a:ea typeface="楷体" panose="02010609060101010101" charset="-122"/>
                <a:sym typeface="+mn-ea"/>
              </a:rPr>
              <a:t>对比度场景检测覆盖率可达</a:t>
            </a:r>
            <a:r>
              <a:rPr lang="en-US" altLang="zh-CN" baseline="30000">
                <a:latin typeface="楷体" panose="02010609060101010101" charset="-122"/>
                <a:ea typeface="楷体" panose="02010609060101010101" charset="-122"/>
                <a:sym typeface="+mn-ea"/>
              </a:rPr>
              <a:t> 99%</a:t>
            </a:r>
            <a:r>
              <a:rPr lang="zh-CN" altLang="en-US" baseline="30000">
                <a:latin typeface="楷体" panose="02010609060101010101" charset="-122"/>
                <a:ea typeface="楷体" panose="02010609060101010101" charset="-122"/>
                <a:sym typeface="+mn-ea"/>
              </a:rPr>
              <a:t>以上</a:t>
            </a:r>
            <a:r>
              <a:rPr lang="en-US" altLang="zh-CN" baseline="30000">
                <a:latin typeface="楷体" panose="02010609060101010101" charset="-122"/>
                <a:ea typeface="楷体" panose="02010609060101010101" charset="-122"/>
                <a:sym typeface="+mn-ea"/>
              </a:rPr>
              <a:t>；</a:t>
            </a:r>
            <a:endParaRPr lang="en-US" altLang="zh-CN" baseline="3000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marL="285750" indent="-28575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l"/>
            </a:pPr>
            <a:r>
              <a:rPr lang="zh-CN" altLang="en-US" baseline="30000">
                <a:latin typeface="楷体" panose="02010609060101010101" charset="-122"/>
                <a:ea typeface="楷体" panose="02010609060101010101" charset="-122"/>
                <a:sym typeface="+mn-ea"/>
              </a:rPr>
              <a:t>支持多种光源颜色可调，适配不同胶色与背景</a:t>
            </a:r>
            <a:r>
              <a:rPr lang="en-US" altLang="zh-CN" baseline="30000">
                <a:latin typeface="楷体" panose="02010609060101010101" charset="-122"/>
                <a:ea typeface="楷体" panose="02010609060101010101" charset="-122"/>
                <a:sym typeface="+mn-ea"/>
              </a:rPr>
              <a:t>；</a:t>
            </a:r>
            <a:endParaRPr lang="en-US" altLang="zh-CN" baseline="3000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marL="285750" indent="-28575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l"/>
            </a:pPr>
            <a:r>
              <a:rPr lang="zh-CN" altLang="en-US" baseline="30000">
                <a:latin typeface="楷体" panose="02010609060101010101" charset="-122"/>
                <a:ea typeface="楷体" panose="02010609060101010101" charset="-122"/>
                <a:sym typeface="+mn-ea"/>
              </a:rPr>
              <a:t>支持检测漏涂，断胶，过粗，过细，偏胶，溢胶等多种问题类型</a:t>
            </a:r>
            <a:r>
              <a:rPr lang="en-US" altLang="zh-CN" baseline="30000">
                <a:latin typeface="楷体" panose="02010609060101010101" charset="-122"/>
                <a:ea typeface="楷体" panose="02010609060101010101" charset="-122"/>
                <a:sym typeface="+mn-ea"/>
              </a:rPr>
              <a:t>；</a:t>
            </a:r>
            <a:endParaRPr lang="en-US" altLang="zh-CN" baseline="3000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marL="285750" indent="-28575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l"/>
            </a:pPr>
            <a:r>
              <a:rPr lang="zh-CN" altLang="en-US" baseline="30000">
                <a:latin typeface="楷体" panose="02010609060101010101" charset="-122"/>
                <a:ea typeface="楷体" panose="02010609060101010101" charset="-122"/>
                <a:sym typeface="+mn-ea"/>
              </a:rPr>
              <a:t>支持多角度检测，涂胶转角处无视野盲区；</a:t>
            </a:r>
            <a:endParaRPr lang="en-US" altLang="zh-CN" baseline="30000">
              <a:latin typeface="楷体" panose="02010609060101010101" charset="-122"/>
              <a:ea typeface="楷体" panose="02010609060101010101" charset="-122"/>
              <a:sym typeface="+mn-ea"/>
            </a:endParaRPr>
          </a:p>
          <a:p>
            <a:pPr marL="285750" indent="-285750" algn="l" fontAlgn="auto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l"/>
            </a:pPr>
            <a:r>
              <a:rPr lang="zh-CN" altLang="en-US" baseline="30000">
                <a:latin typeface="楷体" panose="02010609060101010101" charset="-122"/>
                <a:ea typeface="楷体" panose="02010609060101010101" charset="-122"/>
                <a:sym typeface="+mn-ea"/>
              </a:rPr>
              <a:t>支持快速查询及报表导出功能；</a:t>
            </a:r>
            <a:endParaRPr lang="en-US" altLang="zh-CN" baseline="30000">
              <a:latin typeface="楷体" panose="02010609060101010101" charset="-122"/>
              <a:ea typeface="楷体" panose="02010609060101010101" charset="-122"/>
            </a:endParaRPr>
          </a:p>
          <a:p>
            <a:endParaRPr lang="zh-CN" altLang="en-US"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815" y="2296160"/>
            <a:ext cx="2552700" cy="199072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14.55,&quot;left&quot;:26.65,&quot;top&quot;:84.4,&quot;width&quot;:878.4}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5174_1*l_h_i*1_2_1"/>
  <p:tag name="KSO_WM_TEMPLATE_CATEGORY" val="diagram"/>
  <p:tag name="KSO_WM_TEMPLATE_INDEX" val="202351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UNIT_LINE_FORE_SCHEMECOLOR_INDEX" val="5"/>
  <p:tag name="KSO_WM_DIAGRAM_MAX_ITEMCNT" val="2"/>
  <p:tag name="KSO_WM_DIAGRAM_MIN_ITEMCNT" val="2"/>
  <p:tag name="KSO_WM_DIAGRAM_COLOR_MATCH_VALUE" val="{&quot;shape&quot;:{&quot;fill&quot;:{&quot;gradient&quot;:[{&quot;brightness&quot;:0,&quot;colorType&quot;:2,&quot;pos&quot;:0,&quot;rgb&quot;:&quot;#ffffff&quot;,&quot;transparency&quot;:0.8999999761581421},{&quot;brightness&quot;:0,&quot;colorType&quot;:1,&quot;foreColorIndex&quot;:5,&quot;pos&quot;:1,&quot;transparency&quot;:0.8500000238418579}],&quot;type&quot;:3},&quot;glow&quot;:{&quot;colorType&quot;:0},&quot;line&quot;:{&quot;solidLine&quot;:{&quot;brightness&quot;:0.4000000059604645,&quot;colorType&quot;:1,&quot;foreColorIndex&quot;:5,&quot;transparency&quot;:0.4000000059604645},&quot;type&quot;:1},&quot;shadow&quot;:{&quot;brightness&quot;:-0.5,&quot;colorType&quot;:1,&quot;foreColorIndex&quot;:14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SHADOW_SCHEMECOLOR_INDEX" val="14"/>
  <p:tag name="KSO_WM_UNIT_USESOURCEFORMAT_APPLY" val="0"/>
</p:tagLst>
</file>

<file path=ppt/tags/tag2.xml><?xml version="1.0" encoding="utf-8"?>
<p:tagLst xmlns:p="http://schemas.openxmlformats.org/presentationml/2006/main">
  <p:tag name="KSO_WM_DIAGRAM_VIRTUALLY_FRAME" val="{&quot;height&quot;:414.55,&quot;left&quot;:26.65,&quot;top&quot;:84.4,&quot;width&quot;:878.4}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5174_1*l_h_i*1_1_1"/>
  <p:tag name="KSO_WM_TEMPLATE_CATEGORY" val="diagram"/>
  <p:tag name="KSO_WM_TEMPLATE_INDEX" val="202351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UNIT_LINE_FORE_SCHEMECOLOR_INDEX" val="5"/>
  <p:tag name="KSO_WM_DIAGRAM_MAX_ITEMCNT" val="2"/>
  <p:tag name="KSO_WM_DIAGRAM_MIN_ITEMCNT" val="2"/>
  <p:tag name="KSO_WM_DIAGRAM_COLOR_MATCH_VALUE" val="{&quot;shape&quot;:{&quot;fill&quot;:{&quot;gradient&quot;:[{&quot;brightness&quot;:0,&quot;colorType&quot;:2,&quot;pos&quot;:0,&quot;rgb&quot;:&quot;#ffffff&quot;,&quot;transparency&quot;:0.8999999761581421},{&quot;brightness&quot;:0,&quot;colorType&quot;:1,&quot;foreColorIndex&quot;:5,&quot;pos&quot;:1,&quot;transparency&quot;:0.8500000238418579}],&quot;type&quot;:3},&quot;glow&quot;:{&quot;colorType&quot;:0},&quot;line&quot;:{&quot;solidLine&quot;:{&quot;brightness&quot;:0.4000000059604645,&quot;colorType&quot;:1,&quot;foreColorIndex&quot;:5,&quot;transparency&quot;:0.4000000059604645},&quot;type&quot;:1},&quot;shadow&quot;:{&quot;brightness&quot;:-0.5,&quot;colorType&quot;:1,&quot;foreColorIndex&quot;:14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SHADOW_SCHEMECOLOR_INDEX" val="14"/>
  <p:tag name="KSO_WM_UNIT_USESOURCEFORMAT_APPLY" val="0"/>
</p:tagLst>
</file>

<file path=ppt/tags/tag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5174_1*l_h_a*1_1_1"/>
  <p:tag name="KSO_WM_TEMPLATE_CATEGORY" val="diagram"/>
  <p:tag name="KSO_WM_TEMPLATE_INDEX" val="20235174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414.55,&quot;left&quot;:26.65,&quot;top&quot;:84.4,&quot;width&quot;:878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PRESET_TEXT" val="单击添加标题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4.xml><?xml version="1.0" encoding="utf-8"?>
<p:tagLst xmlns:p="http://schemas.openxmlformats.org/presentationml/2006/main">
  <p:tag name="KSO_WM_DIAGRAM_VIRTUALLY_FRAME" val="{&quot;height&quot;:414.55,&quot;left&quot;:26.65,&quot;top&quot;:84.4,&quot;width&quot;:878.4}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5174_1*l_h_i*1_1_2"/>
  <p:tag name="KSO_WM_TEMPLATE_CATEGORY" val="diagram"/>
  <p:tag name="KSO_WM_TEMPLATE_INDEX" val="202351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2"/>
  <p:tag name="KSO_WM_DIAGRAM_MIN_ITEMCNT" val="2"/>
  <p:tag name="KSO_WM_DIAGRAM_COLOR_MATCH_VALUE" val="{&quot;shape&quot;:{&quot;fill&quot;:{&quot;solid&quot;:{&quot;brightness&quot;:0,&quot;colorType&quot;:1,&quot;foreColorIndex&quot;:5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5.xml><?xml version="1.0" encoding="utf-8"?>
<p:tagLst xmlns:p="http://schemas.openxmlformats.org/presentationml/2006/main">
  <p:tag name="KSO_WM_DIAGRAM_VIRTUALLY_FRAME" val="{&quot;height&quot;:414.55,&quot;left&quot;:26.65,&quot;top&quot;:84.4,&quot;width&quot;:878.4}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35174_1*l_h_i*1_1_3"/>
  <p:tag name="KSO_WM_TEMPLATE_CATEGORY" val="diagram"/>
  <p:tag name="KSO_WM_TEMPLATE_INDEX" val="202351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DIAGRAM_MAX_ITEMCNT" val="2"/>
  <p:tag name="KSO_WM_DIAGRAM_MIN_ITEMCNT" val="2"/>
  <p:tag name="KSO_WM_DIAGRAM_COLOR_MATCH_VALUE" val="{&quot;shape&quot;:{&quot;fill&quot;:{&quot;gradient&quot;:[{&quot;brightness&quot;:0.4000000059604645,&quot;colorType&quot;:1,&quot;foreColorIndex&quot;:5,&quot;pos&quot;:0,&quot;transparency&quot;:0.4000000059604645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5174_1*l_h_a*1_2_1"/>
  <p:tag name="KSO_WM_TEMPLATE_CATEGORY" val="diagram"/>
  <p:tag name="KSO_WM_TEMPLATE_INDEX" val="20235174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414.55,&quot;left&quot;:26.65,&quot;top&quot;:84.4,&quot;width&quot;:878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PRESET_TEXT" val="单击添加标题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7.xml><?xml version="1.0" encoding="utf-8"?>
<p:tagLst xmlns:p="http://schemas.openxmlformats.org/presentationml/2006/main">
  <p:tag name="KSO_WM_DIAGRAM_VIRTUALLY_FRAME" val="{&quot;height&quot;:414.55,&quot;left&quot;:26.65,&quot;top&quot;:84.4,&quot;width&quot;:878.4}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5174_1*l_h_i*1_2_2"/>
  <p:tag name="KSO_WM_TEMPLATE_CATEGORY" val="diagram"/>
  <p:tag name="KSO_WM_TEMPLATE_INDEX" val="202351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2"/>
  <p:tag name="KSO_WM_DIAGRAM_MIN_ITEMCNT" val="2"/>
  <p:tag name="KSO_WM_DIAGRAM_COLOR_MATCH_VALUE" val="{&quot;shape&quot;:{&quot;fill&quot;:{&quot;solid&quot;:{&quot;brightness&quot;:0,&quot;colorType&quot;:1,&quot;foreColorIndex&quot;:5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8.xml><?xml version="1.0" encoding="utf-8"?>
<p:tagLst xmlns:p="http://schemas.openxmlformats.org/presentationml/2006/main">
  <p:tag name="KSO_WM_DIAGRAM_VIRTUALLY_FRAME" val="{&quot;height&quot;:414.55,&quot;left&quot;:26.65,&quot;top&quot;:84.4,&quot;width&quot;:878.4}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35174_1*l_h_i*1_2_3"/>
  <p:tag name="KSO_WM_TEMPLATE_CATEGORY" val="diagram"/>
  <p:tag name="KSO_WM_TEMPLATE_INDEX" val="202351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DIAGRAM_MAX_ITEMCNT" val="2"/>
  <p:tag name="KSO_WM_DIAGRAM_MIN_ITEMCNT" val="2"/>
  <p:tag name="KSO_WM_DIAGRAM_COLOR_MATCH_VALUE" val="{&quot;shape&quot;:{&quot;fill&quot;:{&quot;gradient&quot;:[{&quot;brightness&quot;:0.4000000059604645,&quot;colorType&quot;:1,&quot;foreColorIndex&quot;:5,&quot;pos&quot;:0,&quot;transparency&quot;:0.4000000059604645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9.xml><?xml version="1.0" encoding="utf-8"?>
<p:tagLst xmlns:p="http://schemas.openxmlformats.org/presentationml/2006/main">
  <p:tag name="KSO_WM_DIAGRAM_VIRTUALLY_FRAME" val="{&quot;height&quot;:414.55,&quot;left&quot;:26.65,&quot;top&quot;:84.4,&quot;width&quot;:878.4}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5174_1*l_h_i*1_2_1"/>
  <p:tag name="KSO_WM_TEMPLATE_CATEGORY" val="diagram"/>
  <p:tag name="KSO_WM_TEMPLATE_INDEX" val="202351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UNIT_LINE_FORE_SCHEMECOLOR_INDEX" val="5"/>
  <p:tag name="KSO_WM_DIAGRAM_MAX_ITEMCNT" val="2"/>
  <p:tag name="KSO_WM_DIAGRAM_MIN_ITEMCNT" val="2"/>
  <p:tag name="KSO_WM_DIAGRAM_COLOR_MATCH_VALUE" val="{&quot;shape&quot;:{&quot;fill&quot;:{&quot;gradient&quot;:[{&quot;brightness&quot;:0,&quot;colorType&quot;:2,&quot;pos&quot;:0,&quot;rgb&quot;:&quot;#ffffff&quot;,&quot;transparency&quot;:0.8999999761581421},{&quot;brightness&quot;:0,&quot;colorType&quot;:1,&quot;foreColorIndex&quot;:5,&quot;pos&quot;:1,&quot;transparency&quot;:0.8500000238418579}],&quot;type&quot;:3},&quot;glow&quot;:{&quot;colorType&quot;:0},&quot;line&quot;:{&quot;solidLine&quot;:{&quot;brightness&quot;:0.4000000059604645,&quot;colorType&quot;:1,&quot;foreColorIndex&quot;:5,&quot;transparency&quot;:0.4000000059604645},&quot;type&quot;:1},&quot;shadow&quot;:{&quot;brightness&quot;:-0.5,&quot;colorType&quot;:1,&quot;foreColorIndex&quot;:14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SHADOW_SCHEMECOLOR_INDEX" val="14"/>
  <p:tag name="KSO_WM_UNIT_USESOURCEFORMAT_APPLY" val="0"/>
</p:tagLst>
</file>

<file path=ppt/tags/tag10.xml><?xml version="1.0" encoding="utf-8"?>
<p:tagLst xmlns:p="http://schemas.openxmlformats.org/presentationml/2006/main">
  <p:tag name="KSO_WM_DIAGRAM_VIRTUALLY_FRAME" val="{&quot;height&quot;:414.55,&quot;left&quot;:26.65,&quot;top&quot;:84.4,&quot;width&quot;:878.4}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5174_1*l_h_i*1_1_1"/>
  <p:tag name="KSO_WM_TEMPLATE_CATEGORY" val="diagram"/>
  <p:tag name="KSO_WM_TEMPLATE_INDEX" val="202351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UNIT_LINE_FORE_SCHEMECOLOR_INDEX" val="5"/>
  <p:tag name="KSO_WM_DIAGRAM_MAX_ITEMCNT" val="2"/>
  <p:tag name="KSO_WM_DIAGRAM_MIN_ITEMCNT" val="2"/>
  <p:tag name="KSO_WM_DIAGRAM_COLOR_MATCH_VALUE" val="{&quot;shape&quot;:{&quot;fill&quot;:{&quot;gradient&quot;:[{&quot;brightness&quot;:0,&quot;colorType&quot;:2,&quot;pos&quot;:0,&quot;rgb&quot;:&quot;#ffffff&quot;,&quot;transparency&quot;:0.8999999761581421},{&quot;brightness&quot;:0,&quot;colorType&quot;:1,&quot;foreColorIndex&quot;:5,&quot;pos&quot;:1,&quot;transparency&quot;:0.8500000238418579}],&quot;type&quot;:3},&quot;glow&quot;:{&quot;colorType&quot;:0},&quot;line&quot;:{&quot;solidLine&quot;:{&quot;brightness&quot;:0.4000000059604645,&quot;colorType&quot;:1,&quot;foreColorIndex&quot;:5,&quot;transparency&quot;:0.4000000059604645},&quot;type&quot;:1},&quot;shadow&quot;:{&quot;brightness&quot;:-0.5,&quot;colorType&quot;:1,&quot;foreColorIndex&quot;:14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SHADOW_SCHEMECOLOR_INDEX" val="14"/>
  <p:tag name="KSO_WM_UNIT_USESOURCEFORMAT_APPLY" val="0"/>
</p:tagLst>
</file>

<file path=ppt/tags/tag1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5174_1*l_h_a*1_1_1"/>
  <p:tag name="KSO_WM_TEMPLATE_CATEGORY" val="diagram"/>
  <p:tag name="KSO_WM_TEMPLATE_INDEX" val="20235174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414.55,&quot;left&quot;:26.65,&quot;top&quot;:84.4,&quot;width&quot;:878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PRESET_TEXT" val="单击添加标题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12.xml><?xml version="1.0" encoding="utf-8"?>
<p:tagLst xmlns:p="http://schemas.openxmlformats.org/presentationml/2006/main">
  <p:tag name="KSO_WM_DIAGRAM_VIRTUALLY_FRAME" val="{&quot;height&quot;:414.55,&quot;left&quot;:26.65,&quot;top&quot;:84.4,&quot;width&quot;:878.4}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5174_1*l_h_i*1_1_2"/>
  <p:tag name="KSO_WM_TEMPLATE_CATEGORY" val="diagram"/>
  <p:tag name="KSO_WM_TEMPLATE_INDEX" val="202351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2"/>
  <p:tag name="KSO_WM_DIAGRAM_MIN_ITEMCNT" val="2"/>
  <p:tag name="KSO_WM_DIAGRAM_COLOR_MATCH_VALUE" val="{&quot;shape&quot;:{&quot;fill&quot;:{&quot;solid&quot;:{&quot;brightness&quot;:0,&quot;colorType&quot;:1,&quot;foreColorIndex&quot;:5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13.xml><?xml version="1.0" encoding="utf-8"?>
<p:tagLst xmlns:p="http://schemas.openxmlformats.org/presentationml/2006/main">
  <p:tag name="KSO_WM_DIAGRAM_VIRTUALLY_FRAME" val="{&quot;height&quot;:414.55,&quot;left&quot;:26.65,&quot;top&quot;:84.4,&quot;width&quot;:878.4}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35174_1*l_h_i*1_1_3"/>
  <p:tag name="KSO_WM_TEMPLATE_CATEGORY" val="diagram"/>
  <p:tag name="KSO_WM_TEMPLATE_INDEX" val="202351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DIAGRAM_MAX_ITEMCNT" val="2"/>
  <p:tag name="KSO_WM_DIAGRAM_MIN_ITEMCNT" val="2"/>
  <p:tag name="KSO_WM_DIAGRAM_COLOR_MATCH_VALUE" val="{&quot;shape&quot;:{&quot;fill&quot;:{&quot;gradient&quot;:[{&quot;brightness&quot;:0.4000000059604645,&quot;colorType&quot;:1,&quot;foreColorIndex&quot;:5,&quot;pos&quot;:0,&quot;transparency&quot;:0.4000000059604645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1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5174_1*l_h_a*1_2_1"/>
  <p:tag name="KSO_WM_TEMPLATE_CATEGORY" val="diagram"/>
  <p:tag name="KSO_WM_TEMPLATE_INDEX" val="20235174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414.55,&quot;left&quot;:26.65,&quot;top&quot;:84.4,&quot;width&quot;:878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PRESET_TEXT" val="单击添加标题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15.xml><?xml version="1.0" encoding="utf-8"?>
<p:tagLst xmlns:p="http://schemas.openxmlformats.org/presentationml/2006/main">
  <p:tag name="KSO_WM_DIAGRAM_VIRTUALLY_FRAME" val="{&quot;height&quot;:414.55,&quot;left&quot;:26.65,&quot;top&quot;:84.4,&quot;width&quot;:878.4}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5174_1*l_h_i*1_2_2"/>
  <p:tag name="KSO_WM_TEMPLATE_CATEGORY" val="diagram"/>
  <p:tag name="KSO_WM_TEMPLATE_INDEX" val="202351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2"/>
  <p:tag name="KSO_WM_DIAGRAM_MIN_ITEMCNT" val="2"/>
  <p:tag name="KSO_WM_DIAGRAM_COLOR_MATCH_VALUE" val="{&quot;shape&quot;:{&quot;fill&quot;:{&quot;solid&quot;:{&quot;brightness&quot;:0,&quot;colorType&quot;:1,&quot;foreColorIndex&quot;:5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16.xml><?xml version="1.0" encoding="utf-8"?>
<p:tagLst xmlns:p="http://schemas.openxmlformats.org/presentationml/2006/main">
  <p:tag name="KSO_WM_DIAGRAM_VIRTUALLY_FRAME" val="{&quot;height&quot;:414.55,&quot;left&quot;:26.65,&quot;top&quot;:84.4,&quot;width&quot;:878.4}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35174_1*l_h_i*1_2_3"/>
  <p:tag name="KSO_WM_TEMPLATE_CATEGORY" val="diagram"/>
  <p:tag name="KSO_WM_TEMPLATE_INDEX" val="202351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DIAGRAM_MAX_ITEMCNT" val="2"/>
  <p:tag name="KSO_WM_DIAGRAM_MIN_ITEMCNT" val="2"/>
  <p:tag name="KSO_WM_DIAGRAM_COLOR_MATCH_VALUE" val="{&quot;shape&quot;:{&quot;fill&quot;:{&quot;gradient&quot;:[{&quot;brightness&quot;:0.4000000059604645,&quot;colorType&quot;:1,&quot;foreColorIndex&quot;:5,&quot;pos&quot;:0,&quot;transparency&quot;:0.4000000059604645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17.xml><?xml version="1.0" encoding="utf-8"?>
<p:tagLst xmlns:p="http://schemas.openxmlformats.org/presentationml/2006/main">
  <p:tag name="KSO_WM_DIAGRAM_VIRTUALLY_FRAME" val="{&quot;height&quot;:414.55,&quot;left&quot;:24.2,&quot;top&quot;:84.4,&quot;width&quot;:880.85}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5174_1*l_h_i*1_1_1"/>
  <p:tag name="KSO_WM_TEMPLATE_CATEGORY" val="diagram"/>
  <p:tag name="KSO_WM_TEMPLATE_INDEX" val="20235174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FILL_TYPE" val="3"/>
  <p:tag name="KSO_WM_UNIT_LINE_FORE_SCHEMECOLOR_INDEX" val="5"/>
  <p:tag name="KSO_WM_DIAGRAM_MAX_ITEMCNT" val="2"/>
  <p:tag name="KSO_WM_DIAGRAM_MIN_ITEMCNT" val="2"/>
  <p:tag name="KSO_WM_DIAGRAM_COLOR_MATCH_VALUE" val="{&quot;shape&quot;:{&quot;fill&quot;:{&quot;gradient&quot;:[{&quot;brightness&quot;:0,&quot;colorType&quot;:2,&quot;pos&quot;:0,&quot;rgb&quot;:&quot;#ffffff&quot;,&quot;transparency&quot;:0.8999999761581421},{&quot;brightness&quot;:0,&quot;colorType&quot;:1,&quot;foreColorIndex&quot;:5,&quot;pos&quot;:1,&quot;transparency&quot;:0.8500000238418579}],&quot;type&quot;:3},&quot;glow&quot;:{&quot;colorType&quot;:0},&quot;line&quot;:{&quot;solidLine&quot;:{&quot;brightness&quot;:0.4000000059604645,&quot;colorType&quot;:1,&quot;foreColorIndex&quot;:5,&quot;transparency&quot;:0.4000000059604645},&quot;type&quot;:1},&quot;shadow&quot;:{&quot;brightness&quot;:-0.5,&quot;colorType&quot;:1,&quot;foreColorIndex&quot;:14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SHADOW_SCHEMECOLOR_INDEX" val="14"/>
  <p:tag name="KSO_WM_UNIT_USESOURCEFORMAT_APPLY" val="0"/>
</p:tagLst>
</file>

<file path=ppt/tags/tag18.xml><?xml version="1.0" encoding="utf-8"?>
<p:tagLst xmlns:p="http://schemas.openxmlformats.org/presentationml/2006/main">
  <p:tag name="KSO_WM_DIAGRAM_VIRTUALLY_FRAME" val="{&quot;height&quot;:414.55,&quot;left&quot;:24.2,&quot;top&quot;:84.4,&quot;width&quot;:880.85}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5174_1*l_h_i*1_1_1"/>
  <p:tag name="KSO_WM_TEMPLATE_CATEGORY" val="diagram"/>
  <p:tag name="KSO_WM_TEMPLATE_INDEX" val="202351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UNIT_LINE_FORE_SCHEMECOLOR_INDEX" val="5"/>
  <p:tag name="KSO_WM_DIAGRAM_MAX_ITEMCNT" val="2"/>
  <p:tag name="KSO_WM_DIAGRAM_MIN_ITEMCNT" val="2"/>
  <p:tag name="KSO_WM_DIAGRAM_COLOR_MATCH_VALUE" val="{&quot;shape&quot;:{&quot;fill&quot;:{&quot;gradient&quot;:[{&quot;brightness&quot;:0,&quot;colorType&quot;:2,&quot;pos&quot;:0,&quot;rgb&quot;:&quot;#ffffff&quot;,&quot;transparency&quot;:0.8999999761581421},{&quot;brightness&quot;:0,&quot;colorType&quot;:1,&quot;foreColorIndex&quot;:5,&quot;pos&quot;:1,&quot;transparency&quot;:0.8500000238418579}],&quot;type&quot;:3},&quot;glow&quot;:{&quot;colorType&quot;:0},&quot;line&quot;:{&quot;solidLine&quot;:{&quot;brightness&quot;:0.4000000059604645,&quot;colorType&quot;:1,&quot;foreColorIndex&quot;:5,&quot;transparency&quot;:0.4000000059604645},&quot;type&quot;:1},&quot;shadow&quot;:{&quot;brightness&quot;:-0.5,&quot;colorType&quot;:1,&quot;foreColorIndex&quot;:14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SHADOW_SCHEMECOLOR_INDEX" val="14"/>
  <p:tag name="KSO_WM_UNIT_USESOURCEFORMAT_APPLY" val="0"/>
</p:tagLst>
</file>

<file path=ppt/tags/tag1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5174_1*l_h_a*1_1_1"/>
  <p:tag name="KSO_WM_TEMPLATE_CATEGORY" val="diagram"/>
  <p:tag name="KSO_WM_TEMPLATE_INDEX" val="20235174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414.55,&quot;left&quot;:24.2,&quot;top&quot;:84.4,&quot;width&quot;:880.8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VERSION" val="3"/>
  <p:tag name="KSO_WM_DIAGRAM_COLOR_TRICK" val="1"/>
  <p:tag name="KSO_WM_DIAGRAM_COLOR_TEXT_CAN_REMOVE" val="n"/>
  <p:tag name="KSO_WM_UNIT_PRESET_TEXT" val="单击添加标题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20.xml><?xml version="1.0" encoding="utf-8"?>
<p:tagLst xmlns:p="http://schemas.openxmlformats.org/presentationml/2006/main">
  <p:tag name="KSO_WM_DIAGRAM_VIRTUALLY_FRAME" val="{&quot;height&quot;:414.55,&quot;left&quot;:24.2,&quot;top&quot;:84.4,&quot;width&quot;:880.85}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5174_1*l_h_i*1_1_2"/>
  <p:tag name="KSO_WM_TEMPLATE_CATEGORY" val="diagram"/>
  <p:tag name="KSO_WM_TEMPLATE_INDEX" val="202351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2"/>
  <p:tag name="KSO_WM_DIAGRAM_MIN_ITEMCNT" val="2"/>
  <p:tag name="KSO_WM_DIAGRAM_COLOR_MATCH_VALUE" val="{&quot;shape&quot;:{&quot;fill&quot;:{&quot;solid&quot;:{&quot;brightness&quot;:0,&quot;colorType&quot;:1,&quot;foreColorIndex&quot;:5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21.xml><?xml version="1.0" encoding="utf-8"?>
<p:tagLst xmlns:p="http://schemas.openxmlformats.org/presentationml/2006/main">
  <p:tag name="KSO_WM_DIAGRAM_VIRTUALLY_FRAME" val="{&quot;height&quot;:414.55,&quot;left&quot;:24.2,&quot;top&quot;:84.4,&quot;width&quot;:880.85}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35174_1*l_h_i*1_1_3"/>
  <p:tag name="KSO_WM_TEMPLATE_CATEGORY" val="diagram"/>
  <p:tag name="KSO_WM_TEMPLATE_INDEX" val="2023517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DIAGRAM_MAX_ITEMCNT" val="2"/>
  <p:tag name="KSO_WM_DIAGRAM_MIN_ITEMCNT" val="2"/>
  <p:tag name="KSO_WM_DIAGRAM_COLOR_MATCH_VALUE" val="{&quot;shape&quot;:{&quot;fill&quot;:{&quot;gradient&quot;:[{&quot;brightness&quot;:0.4000000059604645,&quot;colorType&quot;:1,&quot;foreColorIndex&quot;:5,&quot;pos&quot;:0,&quot;transparency&quot;:0.4000000059604645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22.xml><?xml version="1.0" encoding="utf-8"?>
<p:tagLst xmlns:p="http://schemas.openxmlformats.org/presentationml/2006/main">
  <p:tag name="KSO_WM_DIAGRAM_VIRTUALLY_FRAME" val="{&quot;height&quot;:414.55,&quot;left&quot;:24.2,&quot;top&quot;:84.4,&quot;width&quot;:880.85}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5174_1*l_h_i*1_1_1"/>
  <p:tag name="KSO_WM_TEMPLATE_CATEGORY" val="diagram"/>
  <p:tag name="KSO_WM_TEMPLATE_INDEX" val="20235174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FILL_TYPE" val="3"/>
  <p:tag name="KSO_WM_UNIT_LINE_FORE_SCHEMECOLOR_INDEX" val="5"/>
  <p:tag name="KSO_WM_DIAGRAM_MAX_ITEMCNT" val="2"/>
  <p:tag name="KSO_WM_DIAGRAM_MIN_ITEMCNT" val="2"/>
  <p:tag name="KSO_WM_DIAGRAM_COLOR_MATCH_VALUE" val="{&quot;shape&quot;:{&quot;fill&quot;:{&quot;gradient&quot;:[{&quot;brightness&quot;:0,&quot;colorType&quot;:2,&quot;pos&quot;:0,&quot;rgb&quot;:&quot;#ffffff&quot;,&quot;transparency&quot;:0.8999999761581421},{&quot;brightness&quot;:0,&quot;colorType&quot;:1,&quot;foreColorIndex&quot;:5,&quot;pos&quot;:1,&quot;transparency&quot;:0.8500000238418579}],&quot;type&quot;:3},&quot;glow&quot;:{&quot;colorType&quot;:0},&quot;line&quot;:{&quot;solidLine&quot;:{&quot;brightness&quot;:0.4000000059604645,&quot;colorType&quot;:1,&quot;foreColorIndex&quot;:5,&quot;transparency&quot;:0.4000000059604645},&quot;type&quot;:1},&quot;shadow&quot;:{&quot;brightness&quot;:-0.5,&quot;colorType&quot;:1,&quot;foreColorIndex&quot;:14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SHADOW_SCHEMECOLOR_INDEX" val="14"/>
  <p:tag name="KSO_WM_UNIT_USESOURCEFORMAT_APPLY" val="0"/>
</p:tagLst>
</file>

<file path=ppt/tags/tag2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5174_1*l_h_a*1_1_1"/>
  <p:tag name="KSO_WM_TEMPLATE_CATEGORY" val="diagram"/>
  <p:tag name="KSO_WM_TEMPLATE_INDEX" val="20235174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414.55,&quot;left&quot;:24.2,&quot;top&quot;:84.4,&quot;width&quot;:880.8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单击添加标题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24.xml><?xml version="1.0" encoding="utf-8"?>
<p:tagLst xmlns:p="http://schemas.openxmlformats.org/presentationml/2006/main">
  <p:tag name="KSO_WM_DIAGRAM_VIRTUALLY_FRAME" val="{&quot;height&quot;:414.55,&quot;left&quot;:24.2,&quot;top&quot;:84.4,&quot;width&quot;:880.85}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5174_1*l_h_i*1_1_2"/>
  <p:tag name="KSO_WM_TEMPLATE_CATEGORY" val="diagram"/>
  <p:tag name="KSO_WM_TEMPLATE_INDEX" val="20235174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2"/>
  <p:tag name="KSO_WM_DIAGRAM_MIN_ITEMCNT" val="2"/>
  <p:tag name="KSO_WM_DIAGRAM_COLOR_MATCH_VALUE" val="{&quot;shape&quot;:{&quot;fill&quot;:{&quot;solid&quot;:{&quot;brightness&quot;:0,&quot;colorType&quot;:1,&quot;foreColorIndex&quot;:5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25.xml><?xml version="1.0" encoding="utf-8"?>
<p:tagLst xmlns:p="http://schemas.openxmlformats.org/presentationml/2006/main">
  <p:tag name="KSO_WM_DIAGRAM_VIRTUALLY_FRAME" val="{&quot;height&quot;:414.55,&quot;left&quot;:24.2,&quot;top&quot;:84.4,&quot;width&quot;:880.85}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35174_1*l_h_i*1_1_3"/>
  <p:tag name="KSO_WM_TEMPLATE_CATEGORY" val="diagram"/>
  <p:tag name="KSO_WM_TEMPLATE_INDEX" val="20235174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FILL_TYPE" val="3"/>
  <p:tag name="KSO_WM_DIAGRAM_MAX_ITEMCNT" val="2"/>
  <p:tag name="KSO_WM_DIAGRAM_MIN_ITEMCNT" val="2"/>
  <p:tag name="KSO_WM_DIAGRAM_COLOR_MATCH_VALUE" val="{&quot;shape&quot;:{&quot;fill&quot;:{&quot;gradient&quot;:[{&quot;brightness&quot;:0.4000000059604645,&quot;colorType&quot;:1,&quot;foreColorIndex&quot;:5,&quot;pos&quot;:0,&quot;transparency&quot;:0.4000000059604645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2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5174_1*l_h_a*1_1_1"/>
  <p:tag name="KSO_WM_TEMPLATE_CATEGORY" val="diagram"/>
  <p:tag name="KSO_WM_TEMPLATE_INDEX" val="20235174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414.55,&quot;left&quot;:24.2,&quot;top&quot;:84.4,&quot;width&quot;:880.8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单击添加标题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27.xml><?xml version="1.0" encoding="utf-8"?>
<p:tagLst xmlns:p="http://schemas.openxmlformats.org/presentationml/2006/main">
  <p:tag name="KSO_WM_DIAGRAM_VIRTUALLY_FRAME" val="{&quot;height&quot;:414.55,&quot;left&quot;:24.2,&quot;top&quot;:84.4,&quot;width&quot;:880.85}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5174_1*l_h_i*1_1_2"/>
  <p:tag name="KSO_WM_TEMPLATE_CATEGORY" val="diagram"/>
  <p:tag name="KSO_WM_TEMPLATE_INDEX" val="20235174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2"/>
  <p:tag name="KSO_WM_DIAGRAM_MIN_ITEMCNT" val="2"/>
  <p:tag name="KSO_WM_DIAGRAM_COLOR_MATCH_VALUE" val="{&quot;shape&quot;:{&quot;fill&quot;:{&quot;solid&quot;:{&quot;brightness&quot;:0,&quot;colorType&quot;:1,&quot;foreColorIndex&quot;:5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28.xml><?xml version="1.0" encoding="utf-8"?>
<p:tagLst xmlns:p="http://schemas.openxmlformats.org/presentationml/2006/main">
  <p:tag name="KSO_WM_DIAGRAM_VIRTUALLY_FRAME" val="{&quot;height&quot;:414.55,&quot;left&quot;:24.2,&quot;top&quot;:84.4,&quot;width&quot;:880.85}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35174_1*l_h_i*1_1_3"/>
  <p:tag name="KSO_WM_TEMPLATE_CATEGORY" val="diagram"/>
  <p:tag name="KSO_WM_TEMPLATE_INDEX" val="20235174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FILL_TYPE" val="3"/>
  <p:tag name="KSO_WM_DIAGRAM_MAX_ITEMCNT" val="2"/>
  <p:tag name="KSO_WM_DIAGRAM_MIN_ITEMCNT" val="2"/>
  <p:tag name="KSO_WM_DIAGRAM_COLOR_MATCH_VALUE" val="{&quot;shape&quot;:{&quot;fill&quot;:{&quot;gradient&quot;:[{&quot;brightness&quot;:0.4000000059604645,&quot;colorType&quot;:1,&quot;foreColorIndex&quot;:5,&quot;pos&quot;:0,&quot;transparency&quot;:0.4000000059604645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0"/>
</p:tagLst>
</file>

<file path=ppt/tags/tag29.xml><?xml version="1.0" encoding="utf-8"?>
<p:tagLst xmlns:p="http://schemas.openxmlformats.org/presentationml/2006/main">
  <p:tag name="resource_record_key" val="{&quot;29&quot;:[50000199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4517</Words>
  <Application>WPS 演示</Application>
  <PresentationFormat>宽屏</PresentationFormat>
  <Paragraphs>601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楷体</vt:lpstr>
      <vt:lpstr>Wingdings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产品概述</dc:title>
  <dc:creator>钟海威</dc:creator>
  <cp:lastModifiedBy>桀桀啻   饺</cp:lastModifiedBy>
  <cp:revision>42</cp:revision>
  <dcterms:created xsi:type="dcterms:W3CDTF">2023-08-09T12:44:00Z</dcterms:created>
  <dcterms:modified xsi:type="dcterms:W3CDTF">2026-05-12T02:19:09Z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2052-12.1.0.25865</vt:lpwstr>
  </property>
</Properties>
</file>